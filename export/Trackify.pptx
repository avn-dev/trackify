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2998470"/>
            <a:ext cx="762000" cy="762000"/>
          </a:xfrm>
          <a:prstGeom prst="roundRect">
            <a:avLst>
              <a:gd name="adj" fmla="val 27500"/>
            </a:avLst>
          </a:prstGeom>
          <a:solidFill>
            <a:srgbClr val="F6F6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315087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217670"/>
            <a:ext cx="1648206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0" b="1" spc="-600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Trackify.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1143000" y="6275070"/>
            <a:ext cx="686752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App-Design — Login, Training, Cardio &amp; Körper-Tracking. iOS, Dark/Light, ein Akzent. 15 Screens, ein System.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43000" y="9346882"/>
            <a:ext cx="166116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 1.0 · MAI 2026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163800" y="9346882"/>
            <a:ext cx="205740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 SCREENS · 6 FLOWS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59906"/>
            <a:ext cx="16482060" cy="44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50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/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43000" y="3768090"/>
            <a:ext cx="16482060" cy="2644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375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Auth.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6640830"/>
            <a:ext cx="882967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Splash, 3-Step-Onboarding, Login &amp; Registrierung mit Google / Apple.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AUTH · 01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Splash.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Stiller Auftakt. Logomark, Wortmarke, Tagline — kein Marketing-Lärm.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68580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53340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BRAND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76400" y="9831705"/>
            <a:ext cx="170211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5939" y="9894093"/>
            <a:ext cx="153924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LOGO · WORTMARKE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07118" y="9894094"/>
            <a:ext cx="172212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3,2S VOR AUTO-SKIP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1796" y="4329271"/>
            <a:ext cx="1228249" cy="122824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46355" y="5921534"/>
            <a:ext cx="1939131" cy="576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spc="-10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Trackify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2746355" y="6550343"/>
            <a:ext cx="1939131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TRAIN · RUN · MEASURE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13545344" y="9772173"/>
            <a:ext cx="68263" cy="68263"/>
          </a:xfrm>
          <a:prstGeom prst="roundRect">
            <a:avLst>
              <a:gd name="adj" fmla="val 41860"/>
            </a:avLst>
          </a:prstGeom>
          <a:solidFill>
            <a:srgbClr val="C8FF3D"/>
          </a:solidFill>
          <a:ln/>
        </p:spPr>
      </p:sp>
      <p:sp>
        <p:nvSpPr>
          <p:cNvPr id="18" name="Shape 15"/>
          <p:cNvSpPr/>
          <p:nvPr/>
        </p:nvSpPr>
        <p:spPr>
          <a:xfrm>
            <a:off x="13681868" y="9772173"/>
            <a:ext cx="68262" cy="68263"/>
          </a:xfrm>
          <a:prstGeom prst="roundRect">
            <a:avLst>
              <a:gd name="adj" fmla="val 41861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818236" y="9772173"/>
            <a:ext cx="68262" cy="68263"/>
          </a:xfrm>
          <a:prstGeom prst="roundRect">
            <a:avLst>
              <a:gd name="adj" fmla="val 41861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AUTH · 02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Onboarding.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Slides, ein Versprechen: deine Daten, dein Fortschritt — sichtbar gemacht. Skip immer erreichbar.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23444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108204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/ 6 STEPS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25040" y="9831705"/>
            <a:ext cx="188499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4579" y="9894093"/>
            <a:ext cx="172212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STAT-VORSCHAU LIVE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3" name="Text 11"/>
          <p:cNvSpPr/>
          <p:nvPr/>
        </p:nvSpPr>
        <p:spPr>
          <a:xfrm>
            <a:off x="11657488" y="1332547"/>
            <a:ext cx="68119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03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4703107" y="1308894"/>
            <a:ext cx="1071245" cy="254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Überspringen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123738" y="1936274"/>
            <a:ext cx="3184366" cy="2956877"/>
          </a:xfrm>
          <a:prstGeom prst="roundRect">
            <a:avLst>
              <a:gd name="adj" fmla="val 10308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0277" y="2192655"/>
            <a:ext cx="163195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VOLUMEN · 4 WOCHEN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4676438" y="2192655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↑ 14%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2380277" y="2670334"/>
            <a:ext cx="2751588" cy="694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10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18.420 </a:t>
            </a:r>
            <a:pPr algn="l" indent="0" marL="0">
              <a:buNone/>
            </a:pPr>
            <a:r>
              <a:rPr lang="en-US" sz="1200" spc="-10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3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277" y="3635851"/>
            <a:ext cx="2683986" cy="1000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02891" y="7321232"/>
            <a:ext cx="4146841" cy="788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Sieh dein Training. Schwarz auf weiß.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02891" y="8208327"/>
            <a:ext cx="4146841" cy="532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Volumen, RIR, 1RM-Schätzung – alles automatisch ausgewertet, ohne Tabellen-Gefummel.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11702891" y="9464993"/>
            <a:ext cx="68263" cy="68263"/>
          </a:xfrm>
          <a:prstGeom prst="roundRect">
            <a:avLst>
              <a:gd name="adj" fmla="val 4186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1839417" y="9464993"/>
            <a:ext cx="250190" cy="68263"/>
          </a:xfrm>
          <a:prstGeom prst="roundRect">
            <a:avLst>
              <a:gd name="adj" fmla="val 41860"/>
            </a:avLst>
          </a:prstGeom>
          <a:solidFill>
            <a:srgbClr val="C8FF3D"/>
          </a:solidFill>
          <a:ln/>
        </p:spPr>
      </p:sp>
      <p:sp>
        <p:nvSpPr>
          <p:cNvPr id="24" name="Shape 21"/>
          <p:cNvSpPr/>
          <p:nvPr/>
        </p:nvSpPr>
        <p:spPr>
          <a:xfrm>
            <a:off x="12157868" y="9464993"/>
            <a:ext cx="68262" cy="68263"/>
          </a:xfrm>
          <a:prstGeom prst="roundRect">
            <a:avLst>
              <a:gd name="adj" fmla="val 41861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5001081" y="9203531"/>
            <a:ext cx="727869" cy="591344"/>
          </a:xfrm>
          <a:prstGeom prst="roundRect">
            <a:avLst>
              <a:gd name="adj" fmla="val 41879"/>
            </a:avLst>
          </a:prstGeom>
          <a:solidFill>
            <a:srgbClr val="C8FF3D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2701" y="9396889"/>
            <a:ext cx="204788" cy="2047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AUTH · 03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Login.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/ Passwort + Continue with Google / Apple. „Vergessen?“ klein, aber präsent.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23444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108204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EMAIL / PWD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25040" y="9831705"/>
            <a:ext cx="151923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4579" y="9894093"/>
            <a:ext cx="135636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GOOGLE · APPLE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2891" y="1344930"/>
            <a:ext cx="477679" cy="47767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702891" y="2242661"/>
            <a:ext cx="4146841" cy="85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50" b="1" spc="-90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Willkommen zurück.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1702891" y="3122930"/>
            <a:ext cx="4146841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Schön, dass du wieder da bist.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11702891" y="3718401"/>
            <a:ext cx="4026059" cy="743744"/>
          </a:xfrm>
          <a:prstGeom prst="roundRect">
            <a:avLst>
              <a:gd name="adj" fmla="val 204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91168" y="3861118"/>
            <a:ext cx="37589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E-MAIL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1891168" y="4075430"/>
            <a:ext cx="3758989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8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lena@trackify.app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702891" y="4598670"/>
            <a:ext cx="4026059" cy="743744"/>
          </a:xfrm>
          <a:prstGeom prst="roundRect">
            <a:avLst>
              <a:gd name="adj" fmla="val 204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91168" y="4741386"/>
            <a:ext cx="2775461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PASSWORT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1891168" y="4955699"/>
            <a:ext cx="2775461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••••••••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676755" y="4871561"/>
            <a:ext cx="863917" cy="235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vergessen?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11702891" y="5569902"/>
            <a:ext cx="4026059" cy="591344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24" name="Text 21"/>
          <p:cNvSpPr/>
          <p:nvPr/>
        </p:nvSpPr>
        <p:spPr>
          <a:xfrm>
            <a:off x="13307537" y="5743416"/>
            <a:ext cx="543877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15" kern="0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Login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119" y="5774531"/>
            <a:ext cx="181928" cy="18192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1702891" y="6490176"/>
            <a:ext cx="1228249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13067665" y="6411437"/>
            <a:ext cx="1372711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ODER WEITER MIT</a:t>
            </a:r>
            <a:endParaRPr lang="en-US" sz="825" dirty="0"/>
          </a:p>
        </p:txBody>
      </p:sp>
      <p:sp>
        <p:nvSpPr>
          <p:cNvPr id="28" name="Shape 24"/>
          <p:cNvSpPr/>
          <p:nvPr/>
        </p:nvSpPr>
        <p:spPr>
          <a:xfrm>
            <a:off x="14500701" y="6490176"/>
            <a:ext cx="1228249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11702891" y="6830537"/>
            <a:ext cx="4026059" cy="591344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429" y="7023894"/>
            <a:ext cx="204788" cy="2047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981781" y="7010400"/>
            <a:ext cx="1786731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 Google fortfahren</a:t>
            </a:r>
            <a:endParaRPr lang="en-US" sz="1125" dirty="0"/>
          </a:p>
        </p:txBody>
      </p:sp>
      <p:sp>
        <p:nvSpPr>
          <p:cNvPr id="32" name="Shape 27"/>
          <p:cNvSpPr/>
          <p:nvPr/>
        </p:nvSpPr>
        <p:spPr>
          <a:xfrm>
            <a:off x="11702891" y="7535704"/>
            <a:ext cx="4026059" cy="591344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975" y="7729061"/>
            <a:ext cx="204788" cy="2047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034328" y="7715567"/>
            <a:ext cx="1681639" cy="26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 Apple fortfahren</a:t>
            </a:r>
            <a:endParaRPr lang="en-US" sz="1125" dirty="0"/>
          </a:p>
        </p:txBody>
      </p:sp>
      <p:sp>
        <p:nvSpPr>
          <p:cNvPr id="35" name="Text 29"/>
          <p:cNvSpPr/>
          <p:nvPr/>
        </p:nvSpPr>
        <p:spPr>
          <a:xfrm>
            <a:off x="11361422" y="9764237"/>
            <a:ext cx="4708997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Noch keinen Account?</a:t>
            </a:r>
            <a:pPr algn="ctr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Registrieren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AUTH · 04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Registrieren.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E-Mail, Passwort, AGB. 30 Sekunden. Social-Sign-up in einer Zeile.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96012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80772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FELDER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50720" y="9831705"/>
            <a:ext cx="142779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0259" y="9894093"/>
            <a:ext cx="126492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SOCIAL-SIGNUP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2891" y="1371600"/>
            <a:ext cx="159226" cy="1592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69579" y="1344930"/>
            <a:ext cx="57769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Zurück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702891" y="1830546"/>
            <a:ext cx="4146841" cy="850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50" b="1" spc="-90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Erstell dir deinen Account.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1702891" y="2710656"/>
            <a:ext cx="4146841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 Sekunden. Versprochen.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11702891" y="3260566"/>
            <a:ext cx="4026059" cy="743744"/>
          </a:xfrm>
          <a:prstGeom prst="roundRect">
            <a:avLst>
              <a:gd name="adj" fmla="val 204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91168" y="3403282"/>
            <a:ext cx="37589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NAME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1891168" y="3617754"/>
            <a:ext cx="3758989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8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Lena Brunner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1702891" y="4118134"/>
            <a:ext cx="4026059" cy="743744"/>
          </a:xfrm>
          <a:prstGeom prst="roundRect">
            <a:avLst>
              <a:gd name="adj" fmla="val 204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91168" y="4260850"/>
            <a:ext cx="37589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E-MAIL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1891168" y="4475162"/>
            <a:ext cx="3758989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8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lena@trackify.app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1702891" y="4975701"/>
            <a:ext cx="4026059" cy="743744"/>
          </a:xfrm>
          <a:prstGeom prst="roundRect">
            <a:avLst>
              <a:gd name="adj" fmla="val 204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91168" y="5118418"/>
            <a:ext cx="37589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PASSWORT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891168" y="5332730"/>
            <a:ext cx="3758989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Min. 8 Zeichen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1702891" y="5912802"/>
            <a:ext cx="204788" cy="204788"/>
          </a:xfrm>
          <a:prstGeom prst="roundRect">
            <a:avLst>
              <a:gd name="adj" fmla="val 23256"/>
            </a:avLst>
          </a:prstGeom>
          <a:solidFill>
            <a:srgbClr val="C8FF3D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023" y="5946934"/>
            <a:ext cx="136525" cy="13652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021344" y="5901372"/>
            <a:ext cx="1264285" cy="24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Ich akzeptiere die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13323252" y="5901372"/>
            <a:ext cx="374491" cy="24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AGB</a:t>
            </a:r>
            <a:endParaRPr lang="en-US" sz="975" dirty="0"/>
          </a:p>
        </p:txBody>
      </p:sp>
      <p:sp>
        <p:nvSpPr>
          <p:cNvPr id="30" name="Text 26"/>
          <p:cNvSpPr/>
          <p:nvPr/>
        </p:nvSpPr>
        <p:spPr>
          <a:xfrm>
            <a:off x="13735208" y="5901372"/>
            <a:ext cx="167957" cy="24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&amp;</a:t>
            </a:r>
            <a:endParaRPr lang="en-US" sz="975" dirty="0"/>
          </a:p>
        </p:txBody>
      </p:sp>
      <p:sp>
        <p:nvSpPr>
          <p:cNvPr id="31" name="Text 27"/>
          <p:cNvSpPr/>
          <p:nvPr/>
        </p:nvSpPr>
        <p:spPr>
          <a:xfrm>
            <a:off x="13940790" y="5901372"/>
            <a:ext cx="932339" cy="24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Datenschutz</a:t>
            </a:r>
            <a:endParaRPr lang="en-US" sz="975" dirty="0"/>
          </a:p>
        </p:txBody>
      </p:sp>
      <p:sp>
        <p:nvSpPr>
          <p:cNvPr id="32" name="Text 28"/>
          <p:cNvSpPr/>
          <p:nvPr/>
        </p:nvSpPr>
        <p:spPr>
          <a:xfrm>
            <a:off x="14910593" y="5901372"/>
            <a:ext cx="114300" cy="24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11702891" y="6322219"/>
            <a:ext cx="4026059" cy="591344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34" name="Text 30"/>
          <p:cNvSpPr/>
          <p:nvPr/>
        </p:nvSpPr>
        <p:spPr>
          <a:xfrm>
            <a:off x="12897644" y="6495733"/>
            <a:ext cx="1363663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15" kern="0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Konto erstellen</a:t>
            </a:r>
            <a:endParaRPr lang="en-US" sz="12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4170" y="6526848"/>
            <a:ext cx="181927" cy="181927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1702891" y="7242493"/>
            <a:ext cx="1703705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 32"/>
          <p:cNvSpPr/>
          <p:nvPr/>
        </p:nvSpPr>
        <p:spPr>
          <a:xfrm>
            <a:off x="13543121" y="7163752"/>
            <a:ext cx="42195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ODER</a:t>
            </a:r>
            <a:endParaRPr lang="en-US" sz="825" dirty="0"/>
          </a:p>
        </p:txBody>
      </p:sp>
      <p:sp>
        <p:nvSpPr>
          <p:cNvPr id="38" name="Shape 33"/>
          <p:cNvSpPr/>
          <p:nvPr/>
        </p:nvSpPr>
        <p:spPr>
          <a:xfrm>
            <a:off x="14025245" y="7242493"/>
            <a:ext cx="1703705" cy="114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11702891" y="7582852"/>
            <a:ext cx="1956118" cy="591344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7244" y="7776210"/>
            <a:ext cx="204788" cy="2047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517596" y="7762716"/>
            <a:ext cx="645160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</a:t>
            </a:r>
            <a:endParaRPr lang="en-US" sz="1125" dirty="0"/>
          </a:p>
        </p:txBody>
      </p:sp>
      <p:sp>
        <p:nvSpPr>
          <p:cNvPr id="42" name="Shape 36"/>
          <p:cNvSpPr/>
          <p:nvPr/>
        </p:nvSpPr>
        <p:spPr>
          <a:xfrm>
            <a:off x="13772833" y="7582852"/>
            <a:ext cx="1956118" cy="591344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9572" y="7776210"/>
            <a:ext cx="204788" cy="20478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4639925" y="7762716"/>
            <a:ext cx="540226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Apple</a:t>
            </a:r>
            <a:endParaRPr lang="en-US" sz="1125" dirty="0"/>
          </a:p>
        </p:txBody>
      </p:sp>
      <p:sp>
        <p:nvSpPr>
          <p:cNvPr id="45" name="Shape 38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51555"/>
            <a:ext cx="16482060" cy="44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50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43000" y="4259739"/>
            <a:ext cx="1648206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375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Home.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5829459"/>
            <a:ext cx="8829675" cy="677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auf einen Blick: nächstes Workout, Wochen-Streak, Volumen-Trend, Quick-Track.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HOME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Heute.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Hero-Karte mit dem Tages-Workout. Darunter Streak-Tracker, Volumen-Sparkline, Schnell-Eintrag für Lauf / Gewicht / Maße.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96012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80772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HERO CTA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50720" y="9831705"/>
            <a:ext cx="124491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0259" y="9894093"/>
            <a:ext cx="108204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WOCHEN-GRID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4238" y="9831705"/>
            <a:ext cx="115347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776" y="9894093"/>
            <a:ext cx="99060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TREND · 7T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5" name="Text 13"/>
          <p:cNvSpPr/>
          <p:nvPr/>
        </p:nvSpPr>
        <p:spPr>
          <a:xfrm>
            <a:off x="11657488" y="1185704"/>
            <a:ext cx="171386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MITTWOCH · 14. MAI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57488" y="1389697"/>
            <a:ext cx="1713865" cy="425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60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Hey, Lena.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4773592" y="1254125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8687" y="1379220"/>
            <a:ext cx="204788" cy="20478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5319534" y="1254125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447963" y="1375251"/>
            <a:ext cx="27416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LB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1657488" y="2005013"/>
            <a:ext cx="4117023" cy="2277904"/>
          </a:xfrm>
          <a:prstGeom prst="roundRect">
            <a:avLst>
              <a:gd name="adj" fmla="val 10036"/>
            </a:avLst>
          </a:prstGeom>
          <a:solidFill>
            <a:srgbClr val="F6F6F7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4977" y="2271713"/>
            <a:ext cx="119983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0B0B0C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HEUTE · TAG A</a:t>
            </a:r>
            <a:endParaRPr lang="en-US" sz="825" dirty="0"/>
          </a:p>
        </p:txBody>
      </p:sp>
      <p:sp>
        <p:nvSpPr>
          <p:cNvPr id="23" name="Shape 20"/>
          <p:cNvSpPr/>
          <p:nvPr/>
        </p:nvSpPr>
        <p:spPr>
          <a:xfrm>
            <a:off x="15064740" y="2232501"/>
            <a:ext cx="482282" cy="247333"/>
          </a:xfrm>
          <a:prstGeom prst="roundRect">
            <a:avLst>
              <a:gd name="adj" fmla="val 23107"/>
            </a:avLst>
          </a:prstGeom>
          <a:solidFill>
            <a:srgbClr val="C8FF3D"/>
          </a:solidFill>
          <a:ln/>
        </p:spPr>
      </p:sp>
      <p:sp>
        <p:nvSpPr>
          <p:cNvPr id="24" name="Text 21"/>
          <p:cNvSpPr/>
          <p:nvPr/>
        </p:nvSpPr>
        <p:spPr>
          <a:xfrm>
            <a:off x="15140940" y="2270601"/>
            <a:ext cx="406082" cy="209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PUSH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884977" y="2639060"/>
            <a:ext cx="3771906" cy="363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spc="-45" kern="0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Brust · Schulter · Trizeps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1884977" y="3146266"/>
            <a:ext cx="813118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 Übungen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2826524" y="3146266"/>
            <a:ext cx="15811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3113226" y="3146266"/>
            <a:ext cx="64944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~58 Min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3891101" y="3146266"/>
            <a:ext cx="15811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4177645" y="3146266"/>
            <a:ext cx="731203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22 Sätze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1884977" y="3532346"/>
            <a:ext cx="3662045" cy="523081"/>
          </a:xfrm>
          <a:prstGeom prst="roundRect">
            <a:avLst>
              <a:gd name="adj" fmla="val 25493"/>
            </a:avLst>
          </a:prstGeom>
          <a:solidFill>
            <a:srgbClr val="C8FF3D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267" y="3714433"/>
            <a:ext cx="159226" cy="15922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3137514" y="3678238"/>
            <a:ext cx="1407001" cy="26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Workout starten</a:t>
            </a:r>
            <a:endParaRPr lang="en-US" sz="1125" dirty="0"/>
          </a:p>
        </p:txBody>
      </p:sp>
      <p:sp>
        <p:nvSpPr>
          <p:cNvPr id="34" name="Shape 30"/>
          <p:cNvSpPr/>
          <p:nvPr/>
        </p:nvSpPr>
        <p:spPr>
          <a:xfrm>
            <a:off x="11657488" y="4442301"/>
            <a:ext cx="1920875" cy="1868488"/>
          </a:xfrm>
          <a:prstGeom prst="roundRect">
            <a:avLst>
              <a:gd name="adj" fmla="val 1121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845607" y="4630420"/>
            <a:ext cx="96440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DIESE WOCHE</a:t>
            </a:r>
            <a:endParaRPr lang="en-US" sz="825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860" y="4630420"/>
            <a:ext cx="159226" cy="15922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1845607" y="4890294"/>
            <a:ext cx="1620679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pPr algn="l" indent="0" marL="0">
              <a:buNone/>
            </a:pPr>
            <a:r>
              <a:rPr lang="en-US" sz="1050" spc="-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4</a:t>
            </a:r>
            <a:endParaRPr lang="en-US" sz="2100" dirty="0"/>
          </a:p>
        </p:txBody>
      </p:sp>
      <p:sp>
        <p:nvSpPr>
          <p:cNvPr id="38" name="Text 33"/>
          <p:cNvSpPr/>
          <p:nvPr/>
        </p:nvSpPr>
        <p:spPr>
          <a:xfrm>
            <a:off x="11845607" y="5361146"/>
            <a:ext cx="16206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Workouts</a:t>
            </a:r>
            <a:endParaRPr lang="en-US" sz="825" dirty="0"/>
          </a:p>
        </p:txBody>
      </p:sp>
      <p:sp>
        <p:nvSpPr>
          <p:cNvPr id="39" name="Shape 34"/>
          <p:cNvSpPr/>
          <p:nvPr/>
        </p:nvSpPr>
        <p:spPr>
          <a:xfrm>
            <a:off x="11845607" y="5666581"/>
            <a:ext cx="181610" cy="272891"/>
          </a:xfrm>
          <a:prstGeom prst="roundRect">
            <a:avLst>
              <a:gd name="adj" fmla="val 20979"/>
            </a:avLst>
          </a:prstGeom>
          <a:solidFill>
            <a:srgbClr val="C8FF3D"/>
          </a:solidFill>
          <a:ln/>
        </p:spPr>
      </p:sp>
      <p:sp>
        <p:nvSpPr>
          <p:cNvPr id="40" name="Text 35"/>
          <p:cNvSpPr/>
          <p:nvPr/>
        </p:nvSpPr>
        <p:spPr>
          <a:xfrm>
            <a:off x="11807507" y="5985034"/>
            <a:ext cx="257810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</a:t>
            </a:r>
            <a:endParaRPr lang="en-US" sz="675" dirty="0"/>
          </a:p>
        </p:txBody>
      </p:sp>
      <p:sp>
        <p:nvSpPr>
          <p:cNvPr id="41" name="Shape 36"/>
          <p:cNvSpPr/>
          <p:nvPr/>
        </p:nvSpPr>
        <p:spPr>
          <a:xfrm>
            <a:off x="12072779" y="5666581"/>
            <a:ext cx="181769" cy="272891"/>
          </a:xfrm>
          <a:prstGeom prst="roundRect">
            <a:avLst>
              <a:gd name="adj" fmla="val 20961"/>
            </a:avLst>
          </a:prstGeom>
          <a:solidFill>
            <a:srgbClr val="1C1C1F"/>
          </a:solidFill>
          <a:ln/>
        </p:spPr>
      </p:sp>
      <p:sp>
        <p:nvSpPr>
          <p:cNvPr id="42" name="Text 37"/>
          <p:cNvSpPr/>
          <p:nvPr/>
        </p:nvSpPr>
        <p:spPr>
          <a:xfrm>
            <a:off x="12034679" y="5985034"/>
            <a:ext cx="257969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</a:t>
            </a:r>
            <a:endParaRPr lang="en-US" sz="675" dirty="0"/>
          </a:p>
        </p:txBody>
      </p:sp>
      <p:sp>
        <p:nvSpPr>
          <p:cNvPr id="43" name="Shape 38"/>
          <p:cNvSpPr/>
          <p:nvPr/>
        </p:nvSpPr>
        <p:spPr>
          <a:xfrm>
            <a:off x="12299950" y="5666581"/>
            <a:ext cx="181610" cy="272891"/>
          </a:xfrm>
          <a:prstGeom prst="roundRect">
            <a:avLst>
              <a:gd name="adj" fmla="val 20979"/>
            </a:avLst>
          </a:prstGeom>
          <a:solidFill>
            <a:srgbClr val="C8FF3D"/>
          </a:solidFill>
          <a:ln/>
        </p:spPr>
      </p:sp>
      <p:sp>
        <p:nvSpPr>
          <p:cNvPr id="44" name="Text 39"/>
          <p:cNvSpPr/>
          <p:nvPr/>
        </p:nvSpPr>
        <p:spPr>
          <a:xfrm>
            <a:off x="12261850" y="5985034"/>
            <a:ext cx="257810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</a:t>
            </a:r>
            <a:endParaRPr lang="en-US" sz="675" dirty="0"/>
          </a:p>
        </p:txBody>
      </p:sp>
      <p:sp>
        <p:nvSpPr>
          <p:cNvPr id="45" name="Shape 40"/>
          <p:cNvSpPr/>
          <p:nvPr/>
        </p:nvSpPr>
        <p:spPr>
          <a:xfrm>
            <a:off x="12527121" y="5666581"/>
            <a:ext cx="181769" cy="272891"/>
          </a:xfrm>
          <a:prstGeom prst="roundRect">
            <a:avLst>
              <a:gd name="adj" fmla="val 20961"/>
            </a:avLst>
          </a:prstGeom>
          <a:solidFill>
            <a:srgbClr val="C8FF3D"/>
          </a:solidFill>
          <a:ln/>
        </p:spPr>
      </p:sp>
      <p:sp>
        <p:nvSpPr>
          <p:cNvPr id="46" name="Text 41"/>
          <p:cNvSpPr/>
          <p:nvPr/>
        </p:nvSpPr>
        <p:spPr>
          <a:xfrm>
            <a:off x="12489021" y="5985034"/>
            <a:ext cx="257969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</a:t>
            </a:r>
            <a:endParaRPr lang="en-US" sz="675" dirty="0"/>
          </a:p>
        </p:txBody>
      </p:sp>
      <p:sp>
        <p:nvSpPr>
          <p:cNvPr id="47" name="Shape 42"/>
          <p:cNvSpPr/>
          <p:nvPr/>
        </p:nvSpPr>
        <p:spPr>
          <a:xfrm>
            <a:off x="12754292" y="5666581"/>
            <a:ext cx="181610" cy="272891"/>
          </a:xfrm>
          <a:prstGeom prst="roundRect">
            <a:avLst>
              <a:gd name="adj" fmla="val 20979"/>
            </a:avLst>
          </a:prstGeom>
          <a:solidFill>
            <a:srgbClr val="FFFFFF">
              <a:alpha val="14000"/>
            </a:srgbClr>
          </a:solidFill>
          <a:ln w="5239">
            <a:solidFill>
              <a:srgbClr val="FFFFFF">
                <a:alpha val="14000"/>
              </a:srgbClr>
            </a:solidFill>
            <a:prstDash val="dash"/>
          </a:ln>
        </p:spPr>
      </p:sp>
      <p:sp>
        <p:nvSpPr>
          <p:cNvPr id="48" name="Text 43"/>
          <p:cNvSpPr/>
          <p:nvPr/>
        </p:nvSpPr>
        <p:spPr>
          <a:xfrm>
            <a:off x="12716192" y="5985034"/>
            <a:ext cx="257810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</a:t>
            </a:r>
            <a:endParaRPr lang="en-US" sz="675" dirty="0"/>
          </a:p>
        </p:txBody>
      </p:sp>
      <p:sp>
        <p:nvSpPr>
          <p:cNvPr id="49" name="Shape 44"/>
          <p:cNvSpPr/>
          <p:nvPr/>
        </p:nvSpPr>
        <p:spPr>
          <a:xfrm>
            <a:off x="12981463" y="5666581"/>
            <a:ext cx="181610" cy="272891"/>
          </a:xfrm>
          <a:prstGeom prst="roundRect">
            <a:avLst>
              <a:gd name="adj" fmla="val 20979"/>
            </a:avLst>
          </a:prstGeom>
          <a:solidFill>
            <a:srgbClr val="1C1C1F"/>
          </a:solidFill>
          <a:ln/>
        </p:spPr>
      </p:sp>
      <p:sp>
        <p:nvSpPr>
          <p:cNvPr id="50" name="Text 45"/>
          <p:cNvSpPr/>
          <p:nvPr/>
        </p:nvSpPr>
        <p:spPr>
          <a:xfrm>
            <a:off x="12943363" y="5985034"/>
            <a:ext cx="257810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</a:t>
            </a:r>
            <a:endParaRPr lang="en-US" sz="675" dirty="0"/>
          </a:p>
        </p:txBody>
      </p:sp>
      <p:sp>
        <p:nvSpPr>
          <p:cNvPr id="51" name="Shape 46"/>
          <p:cNvSpPr/>
          <p:nvPr/>
        </p:nvSpPr>
        <p:spPr>
          <a:xfrm>
            <a:off x="13208476" y="5666581"/>
            <a:ext cx="181610" cy="272891"/>
          </a:xfrm>
          <a:prstGeom prst="roundRect">
            <a:avLst>
              <a:gd name="adj" fmla="val 20979"/>
            </a:avLst>
          </a:prstGeom>
          <a:solidFill>
            <a:srgbClr val="1C1C1F"/>
          </a:solidFill>
          <a:ln/>
        </p:spPr>
      </p:sp>
      <p:sp>
        <p:nvSpPr>
          <p:cNvPr id="52" name="Text 47"/>
          <p:cNvSpPr/>
          <p:nvPr/>
        </p:nvSpPr>
        <p:spPr>
          <a:xfrm>
            <a:off x="13170376" y="5985034"/>
            <a:ext cx="257810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</a:t>
            </a:r>
            <a:endParaRPr lang="en-US" sz="675" dirty="0"/>
          </a:p>
        </p:txBody>
      </p:sp>
      <p:sp>
        <p:nvSpPr>
          <p:cNvPr id="53" name="Shape 48"/>
          <p:cNvSpPr/>
          <p:nvPr/>
        </p:nvSpPr>
        <p:spPr>
          <a:xfrm>
            <a:off x="13692029" y="4442301"/>
            <a:ext cx="2082324" cy="1868488"/>
          </a:xfrm>
          <a:prstGeom prst="roundRect">
            <a:avLst>
              <a:gd name="adj" fmla="val 1121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3880306" y="4630420"/>
            <a:ext cx="64150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VOLUMEN</a:t>
            </a:r>
            <a:endParaRPr lang="en-US" sz="825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7007" y="4630420"/>
            <a:ext cx="159226" cy="159226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13880306" y="4890294"/>
            <a:ext cx="1782128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18.420</a:t>
            </a:r>
            <a:pPr algn="l" indent="0" marL="0">
              <a:buNone/>
            </a:pPr>
            <a:r>
              <a:rPr lang="en-US" sz="1050" spc="-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2100" dirty="0"/>
          </a:p>
        </p:txBody>
      </p:sp>
      <p:sp>
        <p:nvSpPr>
          <p:cNvPr id="57" name="Text 51"/>
          <p:cNvSpPr/>
          <p:nvPr/>
        </p:nvSpPr>
        <p:spPr>
          <a:xfrm>
            <a:off x="13880306" y="5361146"/>
            <a:ext cx="178212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↑ 14% vs. Vorw.</a:t>
            </a:r>
            <a:endParaRPr lang="en-US" sz="825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0306" y="5621020"/>
            <a:ext cx="1705928" cy="40941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884977" y="6470015"/>
            <a:ext cx="1542733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SCHNELL TRACKEN</a:t>
            </a:r>
            <a:endParaRPr lang="en-US" sz="975" dirty="0"/>
          </a:p>
        </p:txBody>
      </p:sp>
      <p:sp>
        <p:nvSpPr>
          <p:cNvPr id="60" name="Text 53"/>
          <p:cNvSpPr/>
          <p:nvPr/>
        </p:nvSpPr>
        <p:spPr>
          <a:xfrm>
            <a:off x="15291593" y="6470015"/>
            <a:ext cx="331470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Alle</a:t>
            </a:r>
            <a:endParaRPr lang="en-US" sz="975" dirty="0"/>
          </a:p>
        </p:txBody>
      </p:sp>
      <p:sp>
        <p:nvSpPr>
          <p:cNvPr id="61" name="Shape 54"/>
          <p:cNvSpPr/>
          <p:nvPr/>
        </p:nvSpPr>
        <p:spPr>
          <a:xfrm>
            <a:off x="11657488" y="6868637"/>
            <a:ext cx="1296511" cy="1167447"/>
          </a:xfrm>
          <a:prstGeom prst="roundRect">
            <a:avLst>
              <a:gd name="adj" fmla="val 14686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1800205" y="7034054"/>
            <a:ext cx="363855" cy="363855"/>
          </a:xfrm>
          <a:prstGeom prst="roundRect">
            <a:avLst>
              <a:gd name="adj" fmla="val 26178"/>
            </a:avLst>
          </a:prstGeom>
          <a:solidFill>
            <a:srgbClr val="1C1C1F"/>
          </a:solidFill>
          <a:ln/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8467" y="7102316"/>
            <a:ext cx="227489" cy="227489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11800205" y="7489031"/>
            <a:ext cx="1087279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Lauf</a:t>
            </a:r>
            <a:endParaRPr lang="en-US" sz="1050" dirty="0"/>
          </a:p>
        </p:txBody>
      </p:sp>
      <p:sp>
        <p:nvSpPr>
          <p:cNvPr id="65" name="Text 57"/>
          <p:cNvSpPr/>
          <p:nvPr/>
        </p:nvSpPr>
        <p:spPr>
          <a:xfrm>
            <a:off x="11800205" y="7701756"/>
            <a:ext cx="10872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Live</a:t>
            </a:r>
            <a:endParaRPr lang="en-US" sz="825" dirty="0"/>
          </a:p>
        </p:txBody>
      </p:sp>
      <p:sp>
        <p:nvSpPr>
          <p:cNvPr id="66" name="Shape 58"/>
          <p:cNvSpPr/>
          <p:nvPr/>
        </p:nvSpPr>
        <p:spPr>
          <a:xfrm>
            <a:off x="13067665" y="6868637"/>
            <a:ext cx="1296511" cy="1167447"/>
          </a:xfrm>
          <a:prstGeom prst="roundRect">
            <a:avLst>
              <a:gd name="adj" fmla="val 14686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13210381" y="7034054"/>
            <a:ext cx="363855" cy="363855"/>
          </a:xfrm>
          <a:prstGeom prst="roundRect">
            <a:avLst>
              <a:gd name="adj" fmla="val 26178"/>
            </a:avLst>
          </a:prstGeom>
          <a:solidFill>
            <a:srgbClr val="1C1C1F"/>
          </a:solidFill>
          <a:ln/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78644" y="7102316"/>
            <a:ext cx="227489" cy="227489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13210381" y="7489031"/>
            <a:ext cx="1087279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Gewicht</a:t>
            </a:r>
            <a:endParaRPr lang="en-US" sz="1050" dirty="0"/>
          </a:p>
        </p:txBody>
      </p:sp>
      <p:sp>
        <p:nvSpPr>
          <p:cNvPr id="70" name="Text 61"/>
          <p:cNvSpPr/>
          <p:nvPr/>
        </p:nvSpPr>
        <p:spPr>
          <a:xfrm>
            <a:off x="13210381" y="7701756"/>
            <a:ext cx="10872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eintragen</a:t>
            </a:r>
            <a:endParaRPr lang="en-US" sz="825" dirty="0"/>
          </a:p>
        </p:txBody>
      </p:sp>
      <p:sp>
        <p:nvSpPr>
          <p:cNvPr id="71" name="Shape 62"/>
          <p:cNvSpPr/>
          <p:nvPr/>
        </p:nvSpPr>
        <p:spPr>
          <a:xfrm>
            <a:off x="14478000" y="6868637"/>
            <a:ext cx="1296511" cy="1167447"/>
          </a:xfrm>
          <a:prstGeom prst="roundRect">
            <a:avLst>
              <a:gd name="adj" fmla="val 14686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14620717" y="7034054"/>
            <a:ext cx="363855" cy="363855"/>
          </a:xfrm>
          <a:prstGeom prst="roundRect">
            <a:avLst>
              <a:gd name="adj" fmla="val 26178"/>
            </a:avLst>
          </a:prstGeom>
          <a:solidFill>
            <a:srgbClr val="1C1C1F"/>
          </a:solidFill>
          <a:ln/>
        </p:spPr>
      </p:sp>
      <p:pic>
        <p:nvPicPr>
          <p:cNvPr id="7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8820" y="7102316"/>
            <a:ext cx="227489" cy="227489"/>
          </a:xfrm>
          <a:prstGeom prst="rect">
            <a:avLst/>
          </a:prstGeom>
        </p:spPr>
      </p:pic>
      <p:sp>
        <p:nvSpPr>
          <p:cNvPr id="74" name="Text 64"/>
          <p:cNvSpPr/>
          <p:nvPr/>
        </p:nvSpPr>
        <p:spPr>
          <a:xfrm>
            <a:off x="14620717" y="7489031"/>
            <a:ext cx="1087279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Maße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14620717" y="7701756"/>
            <a:ext cx="10872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 Wert</a:t>
            </a:r>
            <a:endParaRPr lang="en-US" sz="825" dirty="0"/>
          </a:p>
        </p:txBody>
      </p:sp>
      <p:sp>
        <p:nvSpPr>
          <p:cNvPr id="76" name="Shape 66"/>
          <p:cNvSpPr/>
          <p:nvPr/>
        </p:nvSpPr>
        <p:spPr>
          <a:xfrm>
            <a:off x="11657488" y="8263572"/>
            <a:ext cx="4117023" cy="2132965"/>
          </a:xfrm>
          <a:prstGeom prst="roundRect">
            <a:avLst>
              <a:gd name="adj" fmla="val 982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11845607" y="8451691"/>
            <a:ext cx="164115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KÖRPERGEWICHT · 30T</a:t>
            </a:r>
            <a:endParaRPr lang="en-US" sz="825" dirty="0"/>
          </a:p>
        </p:txBody>
      </p:sp>
      <p:sp>
        <p:nvSpPr>
          <p:cNvPr id="78" name="Text 68"/>
          <p:cNvSpPr/>
          <p:nvPr/>
        </p:nvSpPr>
        <p:spPr>
          <a:xfrm>
            <a:off x="11845607" y="8688864"/>
            <a:ext cx="849630" cy="488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72,4</a:t>
            </a:r>
            <a:endParaRPr lang="en-US" sz="2250" dirty="0"/>
          </a:p>
        </p:txBody>
      </p:sp>
      <p:sp>
        <p:nvSpPr>
          <p:cNvPr id="79" name="Text 69"/>
          <p:cNvSpPr/>
          <p:nvPr/>
        </p:nvSpPr>
        <p:spPr>
          <a:xfrm>
            <a:off x="12687300" y="8882856"/>
            <a:ext cx="253682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975" dirty="0"/>
          </a:p>
        </p:txBody>
      </p:sp>
      <p:sp>
        <p:nvSpPr>
          <p:cNvPr id="80" name="Text 70"/>
          <p:cNvSpPr/>
          <p:nvPr/>
        </p:nvSpPr>
        <p:spPr>
          <a:xfrm>
            <a:off x="13001148" y="8895238"/>
            <a:ext cx="48561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6B4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↓ 1,2</a:t>
            </a:r>
            <a:endParaRPr lang="en-US" sz="900" dirty="0"/>
          </a:p>
        </p:txBody>
      </p:sp>
      <p:sp>
        <p:nvSpPr>
          <p:cNvPr id="81" name="Shape 71"/>
          <p:cNvSpPr/>
          <p:nvPr/>
        </p:nvSpPr>
        <p:spPr>
          <a:xfrm>
            <a:off x="14605159" y="8451691"/>
            <a:ext cx="981075" cy="317818"/>
          </a:xfrm>
          <a:prstGeom prst="roundRect">
            <a:avLst>
              <a:gd name="adj" fmla="val 50000"/>
            </a:avLst>
          </a:prstGeom>
          <a:solidFill>
            <a:srgbClr val="1C1C1F"/>
          </a:solidFill>
          <a:ln/>
        </p:spPr>
      </p:sp>
      <p:sp>
        <p:nvSpPr>
          <p:cNvPr id="82" name="Text 72"/>
          <p:cNvSpPr/>
          <p:nvPr/>
        </p:nvSpPr>
        <p:spPr>
          <a:xfrm>
            <a:off x="14681359" y="8508841"/>
            <a:ext cx="828675" cy="241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 Eintragen</a:t>
            </a:r>
            <a:endParaRPr lang="en-US" sz="900" dirty="0"/>
          </a:p>
        </p:txBody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45607" y="9207500"/>
            <a:ext cx="3707606" cy="1000760"/>
          </a:xfrm>
          <a:prstGeom prst="rect">
            <a:avLst/>
          </a:prstGeom>
        </p:spPr>
      </p:pic>
      <p:sp>
        <p:nvSpPr>
          <p:cNvPr id="84" name="Shape 73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86" name="Text 74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8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88" name="Text 75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8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90" name="Text 76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9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92" name="Text 77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9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94" name="Text 78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95" name="Shape 79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11416"/>
            <a:ext cx="16482060" cy="44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50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43000" y="4419600"/>
            <a:ext cx="1648206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375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Training.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5989320"/>
            <a:ext cx="882967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Übung-Detail, Live-Tracking. Reps · Sätze · RIR.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TRAINING · 01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4-Tage-Split (Push · Pull · Legs · Upper) plus freies Workout. Heute hervorgehoben, morgen vorbereitet.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32588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117348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4-TAGE SPLIT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16480" y="9831705"/>
            <a:ext cx="78771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6019" y="9894093"/>
            <a:ext cx="62484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 FREI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3" name="Text 11"/>
          <p:cNvSpPr/>
          <p:nvPr/>
        </p:nvSpPr>
        <p:spPr>
          <a:xfrm>
            <a:off x="11657488" y="1185704"/>
            <a:ext cx="363128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PLAN · 4-TAGE SPLIT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1657488" y="1422718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319534" y="1350010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4629" y="1475105"/>
            <a:ext cx="204788" cy="20478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1657488" y="1964055"/>
            <a:ext cx="1003300" cy="388461"/>
          </a:xfrm>
          <a:prstGeom prst="roundRect">
            <a:avLst>
              <a:gd name="adj" fmla="val 50000"/>
            </a:avLst>
          </a:prstGeom>
          <a:solidFill>
            <a:srgbClr val="F6F6F7"/>
          </a:solidFill>
          <a:ln/>
        </p:spPr>
      </p:sp>
      <p:sp>
        <p:nvSpPr>
          <p:cNvPr id="18" name="Text 15"/>
          <p:cNvSpPr/>
          <p:nvPr/>
        </p:nvSpPr>
        <p:spPr>
          <a:xfrm>
            <a:off x="11790838" y="2040255"/>
            <a:ext cx="812800" cy="274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Mein Plan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12751752" y="1964055"/>
            <a:ext cx="948849" cy="388461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90341" y="2045494"/>
            <a:ext cx="747871" cy="26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Vorlagen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13791565" y="1964055"/>
            <a:ext cx="832168" cy="388461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930154" y="2045494"/>
            <a:ext cx="631190" cy="26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Verlauf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11657488" y="2534444"/>
            <a:ext cx="4117023" cy="1924844"/>
          </a:xfrm>
          <a:prstGeom prst="roundRect">
            <a:avLst>
              <a:gd name="adj" fmla="val 10887"/>
            </a:avLst>
          </a:prstGeom>
          <a:solidFill>
            <a:srgbClr val="F6F6F7"/>
          </a:solidFill>
          <a:ln/>
        </p:spPr>
      </p:sp>
      <p:sp>
        <p:nvSpPr>
          <p:cNvPr id="24" name="Text 21"/>
          <p:cNvSpPr/>
          <p:nvPr/>
        </p:nvSpPr>
        <p:spPr>
          <a:xfrm>
            <a:off x="11868467" y="2745423"/>
            <a:ext cx="174117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0B0B0C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TAG A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868467" y="2959735"/>
            <a:ext cx="1741170" cy="394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Push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868467" y="3430111"/>
            <a:ext cx="813117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6Übungen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2741911" y="3430111"/>
            <a:ext cx="15811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2960191" y="3430111"/>
            <a:ext cx="64944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~58min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4994889" y="2745423"/>
            <a:ext cx="568642" cy="247332"/>
          </a:xfrm>
          <a:prstGeom prst="roundRect">
            <a:avLst>
              <a:gd name="adj" fmla="val 23107"/>
            </a:avLst>
          </a:prstGeom>
          <a:solidFill>
            <a:srgbClr val="C8FF3D"/>
          </a:solidFill>
          <a:ln/>
        </p:spPr>
      </p:sp>
      <p:sp>
        <p:nvSpPr>
          <p:cNvPr id="30" name="Text 27"/>
          <p:cNvSpPr/>
          <p:nvPr/>
        </p:nvSpPr>
        <p:spPr>
          <a:xfrm>
            <a:off x="15071089" y="2783523"/>
            <a:ext cx="492442" cy="209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HEUTE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11868467" y="3793490"/>
            <a:ext cx="2643188" cy="454978"/>
          </a:xfrm>
          <a:prstGeom prst="roundRect">
            <a:avLst>
              <a:gd name="adj" fmla="val 25122"/>
            </a:avLst>
          </a:prstGeom>
          <a:solidFill>
            <a:srgbClr val="C8FF3D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967" y="3952716"/>
            <a:ext cx="136525" cy="13652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2987496" y="3923824"/>
            <a:ext cx="609759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Starten</a:t>
            </a:r>
            <a:endParaRPr lang="en-US" sz="975" dirty="0"/>
          </a:p>
        </p:txBody>
      </p:sp>
      <p:sp>
        <p:nvSpPr>
          <p:cNvPr id="34" name="Shape 30"/>
          <p:cNvSpPr/>
          <p:nvPr/>
        </p:nvSpPr>
        <p:spPr>
          <a:xfrm>
            <a:off x="14602619" y="3793490"/>
            <a:ext cx="960755" cy="454978"/>
          </a:xfrm>
          <a:prstGeom prst="roundRect">
            <a:avLst>
              <a:gd name="adj" fmla="val 25122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4703108" y="3798729"/>
            <a:ext cx="759778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Vorschau</a:t>
            </a:r>
            <a:endParaRPr lang="en-US" sz="975" dirty="0"/>
          </a:p>
        </p:txBody>
      </p:sp>
      <p:sp>
        <p:nvSpPr>
          <p:cNvPr id="36" name="Shape 32"/>
          <p:cNvSpPr/>
          <p:nvPr/>
        </p:nvSpPr>
        <p:spPr>
          <a:xfrm>
            <a:off x="11657488" y="4573111"/>
            <a:ext cx="4117023" cy="1287939"/>
          </a:xfrm>
          <a:prstGeom prst="roundRect">
            <a:avLst>
              <a:gd name="adj" fmla="val 16270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868467" y="4783931"/>
            <a:ext cx="174117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F6F6F7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TAG B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11868467" y="4998402"/>
            <a:ext cx="1741170" cy="394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Pull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1868467" y="5468620"/>
            <a:ext cx="813117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6Übungen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2741911" y="5468620"/>
            <a:ext cx="15811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2960191" y="5468620"/>
            <a:ext cx="64944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~62min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14905038" y="4783931"/>
            <a:ext cx="658495" cy="259874"/>
          </a:xfrm>
          <a:prstGeom prst="roundRect">
            <a:avLst>
              <a:gd name="adj" fmla="val 21991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4986477" y="4827270"/>
            <a:ext cx="571817" cy="2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MORGEN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11657488" y="5974715"/>
            <a:ext cx="4117023" cy="1287939"/>
          </a:xfrm>
          <a:prstGeom prst="roundRect">
            <a:avLst>
              <a:gd name="adj" fmla="val 16270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1868467" y="6185694"/>
            <a:ext cx="174117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F6F6F7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TAG C</a:t>
            </a:r>
            <a:endParaRPr lang="en-US" sz="825" dirty="0"/>
          </a:p>
        </p:txBody>
      </p:sp>
      <p:sp>
        <p:nvSpPr>
          <p:cNvPr id="46" name="Text 42"/>
          <p:cNvSpPr/>
          <p:nvPr/>
        </p:nvSpPr>
        <p:spPr>
          <a:xfrm>
            <a:off x="11868467" y="6400165"/>
            <a:ext cx="1741170" cy="394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Legs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11868467" y="6870382"/>
            <a:ext cx="813117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5Übungen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2741911" y="6870382"/>
            <a:ext cx="15811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12960191" y="6870382"/>
            <a:ext cx="64944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~70min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15291593" y="6185694"/>
            <a:ext cx="271780" cy="259874"/>
          </a:xfrm>
          <a:prstGeom prst="roundRect">
            <a:avLst>
              <a:gd name="adj" fmla="val 21991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5373032" y="6229033"/>
            <a:ext cx="185102" cy="2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11657488" y="7376478"/>
            <a:ext cx="4117023" cy="1287939"/>
          </a:xfrm>
          <a:prstGeom prst="roundRect">
            <a:avLst>
              <a:gd name="adj" fmla="val 16270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11868467" y="7587456"/>
            <a:ext cx="174117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F6F6F7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TAG D</a:t>
            </a:r>
            <a:endParaRPr lang="en-US" sz="825" dirty="0"/>
          </a:p>
        </p:txBody>
      </p:sp>
      <p:sp>
        <p:nvSpPr>
          <p:cNvPr id="54" name="Text 50"/>
          <p:cNvSpPr/>
          <p:nvPr/>
        </p:nvSpPr>
        <p:spPr>
          <a:xfrm>
            <a:off x="11868467" y="7801769"/>
            <a:ext cx="1741170" cy="394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4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Upper</a:t>
            </a:r>
            <a:endParaRPr lang="en-US" sz="1800" dirty="0"/>
          </a:p>
        </p:txBody>
      </p:sp>
      <p:sp>
        <p:nvSpPr>
          <p:cNvPr id="55" name="Text 51"/>
          <p:cNvSpPr/>
          <p:nvPr/>
        </p:nvSpPr>
        <p:spPr>
          <a:xfrm>
            <a:off x="11868467" y="8271986"/>
            <a:ext cx="813117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7Übungen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2741911" y="8271986"/>
            <a:ext cx="158115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2960191" y="8271986"/>
            <a:ext cx="64944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~65min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15291593" y="7587456"/>
            <a:ext cx="271780" cy="259874"/>
          </a:xfrm>
          <a:prstGeom prst="roundRect">
            <a:avLst>
              <a:gd name="adj" fmla="val 21991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15373032" y="7630795"/>
            <a:ext cx="185102" cy="2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11657488" y="8869204"/>
            <a:ext cx="4117023" cy="889318"/>
          </a:xfrm>
          <a:prstGeom prst="roundRect">
            <a:avLst>
              <a:gd name="adj" fmla="val 23563"/>
            </a:avLst>
          </a:prstGeom>
          <a:ln w="10478">
            <a:solidFill>
              <a:srgbClr val="FFFFFF">
                <a:alpha val="14000"/>
              </a:srgbClr>
            </a:solidFill>
            <a:prstDash val="dash"/>
          </a:ln>
        </p:spPr>
      </p:sp>
      <p:sp>
        <p:nvSpPr>
          <p:cNvPr id="61" name="Shape 57"/>
          <p:cNvSpPr/>
          <p:nvPr/>
        </p:nvSpPr>
        <p:spPr>
          <a:xfrm>
            <a:off x="11874659" y="9086374"/>
            <a:ext cx="454977" cy="454977"/>
          </a:xfrm>
          <a:prstGeom prst="roundRect">
            <a:avLst>
              <a:gd name="adj" fmla="val 25122"/>
            </a:avLst>
          </a:prstGeom>
          <a:solidFill>
            <a:srgbClr val="161618"/>
          </a:solidFill>
          <a:ln/>
        </p:spPr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482" y="9200038"/>
            <a:ext cx="227489" cy="227489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12488862" y="9107329"/>
            <a:ext cx="1631950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Freies Workout</a:t>
            </a:r>
            <a:endParaRPr lang="en-US" sz="1125" dirty="0"/>
          </a:p>
        </p:txBody>
      </p:sp>
      <p:sp>
        <p:nvSpPr>
          <p:cNvPr id="64" name="Text 59"/>
          <p:cNvSpPr/>
          <p:nvPr/>
        </p:nvSpPr>
        <p:spPr>
          <a:xfrm>
            <a:off x="12488862" y="9338786"/>
            <a:ext cx="163195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Übungen frei wählen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76" name="Shape 66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TRAINING · 02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Übung.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1RM-Schätzung, letzter Wert, Volumen-Trend über 4 Wochen, vollständiger Verlauf. Demo-Video als Loop.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96012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80772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1RM EST.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50720" y="9831705"/>
            <a:ext cx="151923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0259" y="9894093"/>
            <a:ext cx="135636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4-WOCHEN CHART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98557" y="9831705"/>
            <a:ext cx="87915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8096" y="9894093"/>
            <a:ext cx="71628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VERLAUF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7488" y="1212374"/>
            <a:ext cx="159226" cy="1592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62118" y="1185704"/>
            <a:ext cx="736759" cy="2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Übungen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657488" y="1512094"/>
            <a:ext cx="363128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BRUST · HAUPTÜBUNG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1657488" y="1749107"/>
            <a:ext cx="3631286" cy="802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Schrägbank Kurzhantel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319534" y="2058511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059" y="2195036"/>
            <a:ext cx="181928" cy="18192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1657488" y="2672556"/>
            <a:ext cx="4117023" cy="2047081"/>
          </a:xfrm>
          <a:prstGeom prst="roundRect">
            <a:avLst>
              <a:gd name="adj" fmla="val 10237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663680" y="2678906"/>
            <a:ext cx="4104481" cy="20345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83724" y="3611721"/>
            <a:ext cx="94059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DEMO-VIDEO</a:t>
            </a:r>
            <a:endParaRPr lang="en-US" sz="825" dirty="0"/>
          </a:p>
        </p:txBody>
      </p:sp>
      <p:sp>
        <p:nvSpPr>
          <p:cNvPr id="24" name="Shape 19"/>
          <p:cNvSpPr/>
          <p:nvPr/>
        </p:nvSpPr>
        <p:spPr>
          <a:xfrm>
            <a:off x="11657488" y="4924425"/>
            <a:ext cx="1296511" cy="947896"/>
          </a:xfrm>
          <a:prstGeom prst="roundRect">
            <a:avLst>
              <a:gd name="adj" fmla="val 22107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800205" y="5067141"/>
            <a:ext cx="10872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0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1RM SCHÄTZ.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11800205" y="5304313"/>
            <a:ext cx="435610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42</a:t>
            </a:r>
            <a:endParaRPr lang="en-US" sz="2100" dirty="0"/>
          </a:p>
        </p:txBody>
      </p:sp>
      <p:sp>
        <p:nvSpPr>
          <p:cNvPr id="27" name="Text 22"/>
          <p:cNvSpPr/>
          <p:nvPr/>
        </p:nvSpPr>
        <p:spPr>
          <a:xfrm>
            <a:off x="12205018" y="5491956"/>
            <a:ext cx="24003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3067665" y="4924425"/>
            <a:ext cx="1296511" cy="947896"/>
          </a:xfrm>
          <a:prstGeom prst="roundRect">
            <a:avLst>
              <a:gd name="adj" fmla="val 22107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3210381" y="5067141"/>
            <a:ext cx="10872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0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LETZTES MAL</a:t>
            </a:r>
            <a:endParaRPr lang="en-US" sz="825" dirty="0"/>
          </a:p>
        </p:txBody>
      </p:sp>
      <p:sp>
        <p:nvSpPr>
          <p:cNvPr id="30" name="Text 25"/>
          <p:cNvSpPr/>
          <p:nvPr/>
        </p:nvSpPr>
        <p:spPr>
          <a:xfrm>
            <a:off x="13210381" y="5304313"/>
            <a:ext cx="435610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13615353" y="5491956"/>
            <a:ext cx="321786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× 9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4478000" y="4924425"/>
            <a:ext cx="1296511" cy="947896"/>
          </a:xfrm>
          <a:prstGeom prst="roundRect">
            <a:avLst>
              <a:gd name="adj" fmla="val 22107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4620717" y="5067141"/>
            <a:ext cx="108727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0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SÄTZE GES.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14620717" y="5304313"/>
            <a:ext cx="615315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148</a:t>
            </a:r>
            <a:endParaRPr lang="en-US" sz="2100" dirty="0"/>
          </a:p>
        </p:txBody>
      </p:sp>
      <p:sp>
        <p:nvSpPr>
          <p:cNvPr id="35" name="Text 30"/>
          <p:cNvSpPr/>
          <p:nvPr/>
        </p:nvSpPr>
        <p:spPr>
          <a:xfrm>
            <a:off x="11884977" y="6077109"/>
            <a:ext cx="112569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FORTSCHRITT</a:t>
            </a:r>
            <a:endParaRPr lang="en-US" sz="975" dirty="0"/>
          </a:p>
        </p:txBody>
      </p:sp>
      <p:sp>
        <p:nvSpPr>
          <p:cNvPr id="36" name="Text 31"/>
          <p:cNvSpPr/>
          <p:nvPr/>
        </p:nvSpPr>
        <p:spPr>
          <a:xfrm>
            <a:off x="14871224" y="6077109"/>
            <a:ext cx="751999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 Wochen</a:t>
            </a:r>
            <a:endParaRPr lang="en-US" sz="975" dirty="0"/>
          </a:p>
        </p:txBody>
      </p:sp>
      <p:sp>
        <p:nvSpPr>
          <p:cNvPr id="37" name="Shape 32"/>
          <p:cNvSpPr/>
          <p:nvPr/>
        </p:nvSpPr>
        <p:spPr>
          <a:xfrm>
            <a:off x="11657488" y="6407468"/>
            <a:ext cx="4117023" cy="1968659"/>
          </a:xfrm>
          <a:prstGeom prst="roundRect">
            <a:avLst>
              <a:gd name="adj" fmla="val 1064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5607" y="6595745"/>
            <a:ext cx="3707606" cy="159226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1884977" y="8580755"/>
            <a:ext cx="77660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VERLAUF</a:t>
            </a:r>
            <a:endParaRPr lang="en-US" sz="975" dirty="0"/>
          </a:p>
        </p:txBody>
      </p:sp>
      <p:sp>
        <p:nvSpPr>
          <p:cNvPr id="40" name="Shape 34"/>
          <p:cNvSpPr/>
          <p:nvPr/>
        </p:nvSpPr>
        <p:spPr>
          <a:xfrm>
            <a:off x="11657488" y="8911272"/>
            <a:ext cx="4117023" cy="735330"/>
          </a:xfrm>
          <a:prstGeom prst="roundRect">
            <a:avLst>
              <a:gd name="adj" fmla="val 1813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11845607" y="9076690"/>
            <a:ext cx="3065532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12. Mai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11845607" y="9312116"/>
            <a:ext cx="306553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4×9·8·8·7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14822012" y="9172416"/>
            <a:ext cx="84042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18-20kg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11657488" y="9737407"/>
            <a:ext cx="4117023" cy="735330"/>
          </a:xfrm>
          <a:prstGeom prst="roundRect">
            <a:avLst>
              <a:gd name="adj" fmla="val 1813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11845607" y="9902984"/>
            <a:ext cx="3163967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08. Mai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11845607" y="10138410"/>
            <a:ext cx="316396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4×10·9·8·8</a:t>
            </a:r>
            <a:endParaRPr lang="en-US" sz="825" dirty="0"/>
          </a:p>
        </p:txBody>
      </p:sp>
      <p:sp>
        <p:nvSpPr>
          <p:cNvPr id="47" name="Text 41"/>
          <p:cNvSpPr/>
          <p:nvPr/>
        </p:nvSpPr>
        <p:spPr>
          <a:xfrm>
            <a:off x="14917420" y="9998711"/>
            <a:ext cx="744855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17,5kg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11657488" y="10563702"/>
            <a:ext cx="4117023" cy="735330"/>
          </a:xfrm>
          <a:prstGeom prst="roundRect">
            <a:avLst>
              <a:gd name="adj" fmla="val 1813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11845607" y="10729118"/>
            <a:ext cx="3163967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05. Mai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11845607" y="10964545"/>
            <a:ext cx="316396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4×10·10·9·8</a:t>
            </a:r>
            <a:endParaRPr lang="en-US" sz="825" dirty="0"/>
          </a:p>
        </p:txBody>
      </p:sp>
      <p:sp>
        <p:nvSpPr>
          <p:cNvPr id="51" name="Text 45"/>
          <p:cNvSpPr/>
          <p:nvPr/>
        </p:nvSpPr>
        <p:spPr>
          <a:xfrm>
            <a:off x="14917420" y="10824845"/>
            <a:ext cx="744855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17,5kg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TRAINING · 03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Großer Timer, Volumen-Anzeige, Satz-Tabelle (Kg · Wdh · RIR), eingebauter Rest-Timer mit Skip. Ein Daumen reicht.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23444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108204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SÄTZE · RIR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25040" y="9831705"/>
            <a:ext cx="115347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4579" y="9894093"/>
            <a:ext cx="99060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REST-TIMER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07118" y="9831705"/>
            <a:ext cx="133635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6656" y="9894093"/>
            <a:ext cx="117348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VOLUMEN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57488" y="1248410"/>
            <a:ext cx="90964" cy="90964"/>
          </a:xfrm>
          <a:prstGeom prst="roundRect">
            <a:avLst>
              <a:gd name="adj" fmla="val 41885"/>
            </a:avLst>
          </a:prstGeom>
          <a:solidFill>
            <a:srgbClr val="C8FF3D"/>
          </a:solidFill>
          <a:ln/>
        </p:spPr>
      </p:sp>
      <p:sp>
        <p:nvSpPr>
          <p:cNvPr id="16" name="Text 14"/>
          <p:cNvSpPr/>
          <p:nvPr/>
        </p:nvSpPr>
        <p:spPr>
          <a:xfrm>
            <a:off x="11862118" y="1203325"/>
            <a:ext cx="119522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LIVE · TAG 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70296" y="1195229"/>
            <a:ext cx="704215" cy="235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6B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Beenden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1657488" y="1584325"/>
            <a:ext cx="1736566" cy="813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150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32:14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4715648" y="2053431"/>
            <a:ext cx="105886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VOLUMEN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4715648" y="2245042"/>
            <a:ext cx="1058863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4.820 kg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657488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C8FF3D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46561" y="2650490"/>
            <a:ext cx="143827" cy="45561"/>
          </a:xfrm>
          <a:prstGeom prst="roundRect">
            <a:avLst>
              <a:gd name="adj" fmla="val 41812"/>
            </a:avLst>
          </a:prstGeom>
          <a:solidFill>
            <a:srgbClr val="C8FF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35949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C8FF3D"/>
          </a:solidFill>
          <a:ln/>
        </p:spPr>
      </p:sp>
      <p:sp>
        <p:nvSpPr>
          <p:cNvPr id="24" name="Shape 22"/>
          <p:cNvSpPr/>
          <p:nvPr/>
        </p:nvSpPr>
        <p:spPr>
          <a:xfrm>
            <a:off x="12225179" y="2650490"/>
            <a:ext cx="143827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2414568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03639" y="2650490"/>
            <a:ext cx="143828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27" name="Shape 25"/>
          <p:cNvSpPr/>
          <p:nvPr/>
        </p:nvSpPr>
        <p:spPr>
          <a:xfrm>
            <a:off x="12793027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28" name="Shape 26"/>
          <p:cNvSpPr/>
          <p:nvPr/>
        </p:nvSpPr>
        <p:spPr>
          <a:xfrm>
            <a:off x="12982258" y="2650490"/>
            <a:ext cx="143828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171488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60717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549947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739018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928249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117479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306550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495780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684851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4874082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5063311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252383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441612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630683" y="2650490"/>
            <a:ext cx="143669" cy="45561"/>
          </a:xfrm>
          <a:prstGeom prst="roundRect">
            <a:avLst>
              <a:gd name="adj" fmla="val 41812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657488" y="2900680"/>
            <a:ext cx="4117023" cy="4437062"/>
          </a:xfrm>
          <a:prstGeom prst="roundRect">
            <a:avLst>
              <a:gd name="adj" fmla="val 5090"/>
            </a:avLst>
          </a:prstGeom>
          <a:solidFill>
            <a:srgbClr val="161618"/>
          </a:solidFill>
          <a:ln w="10478">
            <a:solidFill>
              <a:srgbClr val="C8FF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51958" y="3095149"/>
            <a:ext cx="253825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AKTUELL · Ü 2/6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851958" y="3319780"/>
            <a:ext cx="2538254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Schrägbank Kurzhantel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1851958" y="3642678"/>
            <a:ext cx="2538254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Brust · 4×8-10 · RIR 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216029" y="3095149"/>
            <a:ext cx="363855" cy="363855"/>
          </a:xfrm>
          <a:prstGeom prst="roundRect">
            <a:avLst>
              <a:gd name="adj" fmla="val 26178"/>
            </a:avLst>
          </a:prstGeom>
          <a:solidFill>
            <a:srgbClr val="1C1C1F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6992" y="3186113"/>
            <a:ext cx="181927" cy="181928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1942921" y="4028916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SET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2306777" y="4028916"/>
            <a:ext cx="93980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13261339" y="4028916"/>
            <a:ext cx="93980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WDH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4215904" y="4028916"/>
            <a:ext cx="93980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RIR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1949113" y="4396264"/>
            <a:ext cx="34909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2313126" y="4396264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13263563" y="4396264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14213839" y="4396264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50" dirty="0"/>
          </a:p>
        </p:txBody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6204" y="4422299"/>
            <a:ext cx="136525" cy="136525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11949113" y="4894262"/>
            <a:ext cx="34909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050" dirty="0"/>
          </a:p>
        </p:txBody>
      </p:sp>
      <p:sp>
        <p:nvSpPr>
          <p:cNvPr id="59" name="Text 55"/>
          <p:cNvSpPr/>
          <p:nvPr/>
        </p:nvSpPr>
        <p:spPr>
          <a:xfrm>
            <a:off x="12313126" y="489426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13263563" y="489426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</a:t>
            </a:r>
            <a:endParaRPr lang="en-US" sz="1050" dirty="0"/>
          </a:p>
        </p:txBody>
      </p:sp>
      <p:sp>
        <p:nvSpPr>
          <p:cNvPr id="61" name="Text 57"/>
          <p:cNvSpPr/>
          <p:nvPr/>
        </p:nvSpPr>
        <p:spPr>
          <a:xfrm>
            <a:off x="14213839" y="489426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50" dirty="0"/>
          </a:p>
        </p:txBody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204" y="4920456"/>
            <a:ext cx="136525" cy="136525"/>
          </a:xfrm>
          <a:prstGeom prst="rect">
            <a:avLst/>
          </a:prstGeom>
        </p:spPr>
      </p:pic>
      <p:sp>
        <p:nvSpPr>
          <p:cNvPr id="63" name="Shape 58"/>
          <p:cNvSpPr/>
          <p:nvPr/>
        </p:nvSpPr>
        <p:spPr>
          <a:xfrm>
            <a:off x="11851958" y="5272405"/>
            <a:ext cx="3728085" cy="512921"/>
          </a:xfrm>
          <a:prstGeom prst="roundRect">
            <a:avLst>
              <a:gd name="adj" fmla="val 2228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11949113" y="5422582"/>
            <a:ext cx="34909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50" dirty="0"/>
          </a:p>
        </p:txBody>
      </p:sp>
      <p:sp>
        <p:nvSpPr>
          <p:cNvPr id="65" name="Text 60"/>
          <p:cNvSpPr/>
          <p:nvPr/>
        </p:nvSpPr>
        <p:spPr>
          <a:xfrm>
            <a:off x="12313126" y="542258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</a:t>
            </a:r>
            <a:endParaRPr lang="en-US" sz="1050" dirty="0"/>
          </a:p>
        </p:txBody>
      </p:sp>
      <p:sp>
        <p:nvSpPr>
          <p:cNvPr id="66" name="Text 61"/>
          <p:cNvSpPr/>
          <p:nvPr/>
        </p:nvSpPr>
        <p:spPr>
          <a:xfrm>
            <a:off x="13263563" y="542258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</a:t>
            </a:r>
            <a:endParaRPr lang="en-US" sz="1050" dirty="0"/>
          </a:p>
        </p:txBody>
      </p:sp>
      <p:sp>
        <p:nvSpPr>
          <p:cNvPr id="67" name="Text 62"/>
          <p:cNvSpPr/>
          <p:nvPr/>
        </p:nvSpPr>
        <p:spPr>
          <a:xfrm>
            <a:off x="14213839" y="542258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Shape 63"/>
          <p:cNvSpPr/>
          <p:nvPr/>
        </p:nvSpPr>
        <p:spPr>
          <a:xfrm>
            <a:off x="15164277" y="5392420"/>
            <a:ext cx="272891" cy="272891"/>
          </a:xfrm>
          <a:prstGeom prst="roundRect">
            <a:avLst>
              <a:gd name="adj" fmla="val 20942"/>
            </a:avLst>
          </a:prstGeom>
          <a:solidFill>
            <a:srgbClr val="C8FF3D"/>
          </a:solidFill>
          <a:ln/>
        </p:spPr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1108" y="5449252"/>
            <a:ext cx="159226" cy="159226"/>
          </a:xfrm>
          <a:prstGeom prst="rect">
            <a:avLst/>
          </a:prstGeom>
        </p:spPr>
      </p:pic>
      <p:sp>
        <p:nvSpPr>
          <p:cNvPr id="70" name="Text 64"/>
          <p:cNvSpPr/>
          <p:nvPr/>
        </p:nvSpPr>
        <p:spPr>
          <a:xfrm>
            <a:off x="11949113" y="5950902"/>
            <a:ext cx="34909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50" dirty="0"/>
          </a:p>
        </p:txBody>
      </p:sp>
      <p:sp>
        <p:nvSpPr>
          <p:cNvPr id="71" name="Text 65"/>
          <p:cNvSpPr/>
          <p:nvPr/>
        </p:nvSpPr>
        <p:spPr>
          <a:xfrm>
            <a:off x="12313126" y="595090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</a:t>
            </a:r>
            <a:endParaRPr lang="en-US" sz="1050" dirty="0"/>
          </a:p>
        </p:txBody>
      </p:sp>
      <p:sp>
        <p:nvSpPr>
          <p:cNvPr id="72" name="Text 66"/>
          <p:cNvSpPr/>
          <p:nvPr/>
        </p:nvSpPr>
        <p:spPr>
          <a:xfrm>
            <a:off x="13263563" y="595090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14213839" y="5950902"/>
            <a:ext cx="93567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</a:t>
            </a:r>
            <a:endParaRPr lang="en-US" sz="1050" dirty="0"/>
          </a:p>
        </p:txBody>
      </p:sp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6204" y="5976938"/>
            <a:ext cx="136525" cy="136525"/>
          </a:xfrm>
          <a:prstGeom prst="rect">
            <a:avLst/>
          </a:prstGeom>
        </p:spPr>
      </p:pic>
      <p:sp>
        <p:nvSpPr>
          <p:cNvPr id="75" name="Shape 68"/>
          <p:cNvSpPr/>
          <p:nvPr/>
        </p:nvSpPr>
        <p:spPr>
          <a:xfrm>
            <a:off x="11851958" y="6420009"/>
            <a:ext cx="3728085" cy="723265"/>
          </a:xfrm>
          <a:prstGeom prst="roundRect">
            <a:avLst>
              <a:gd name="adj" fmla="val 18437"/>
            </a:avLst>
          </a:prstGeom>
          <a:solidFill>
            <a:srgbClr val="0B0B0C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12017375" y="6622415"/>
            <a:ext cx="318453" cy="318453"/>
          </a:xfrm>
          <a:prstGeom prst="roundRect">
            <a:avLst>
              <a:gd name="adj" fmla="val 41874"/>
            </a:avLst>
          </a:prstGeom>
          <a:solidFill>
            <a:srgbClr val="C8FF3D"/>
          </a:solidFill>
          <a:ln/>
        </p:spPr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5638" y="6690678"/>
            <a:ext cx="181928" cy="181928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12449652" y="6562725"/>
            <a:ext cx="231854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PAUSE LÄUFT</a:t>
            </a:r>
            <a:endParaRPr lang="en-US" sz="825" dirty="0"/>
          </a:p>
        </p:txBody>
      </p:sp>
      <p:sp>
        <p:nvSpPr>
          <p:cNvPr id="79" name="Text 71"/>
          <p:cNvSpPr/>
          <p:nvPr/>
        </p:nvSpPr>
        <p:spPr>
          <a:xfrm>
            <a:off x="12449652" y="6731635"/>
            <a:ext cx="2318544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01:24</a:t>
            </a:r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 02:00</a:t>
            </a:r>
            <a:endParaRPr lang="en-US" sz="1350" dirty="0"/>
          </a:p>
        </p:txBody>
      </p:sp>
      <p:sp>
        <p:nvSpPr>
          <p:cNvPr id="80" name="Shape 72"/>
          <p:cNvSpPr/>
          <p:nvPr/>
        </p:nvSpPr>
        <p:spPr>
          <a:xfrm>
            <a:off x="14805660" y="6593681"/>
            <a:ext cx="608806" cy="375920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14906149" y="6675120"/>
            <a:ext cx="407829" cy="251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Skip</a:t>
            </a:r>
            <a:endParaRPr lang="en-US" sz="900" dirty="0"/>
          </a:p>
        </p:txBody>
      </p:sp>
      <p:sp>
        <p:nvSpPr>
          <p:cNvPr id="82" name="Shape 74"/>
          <p:cNvSpPr/>
          <p:nvPr/>
        </p:nvSpPr>
        <p:spPr>
          <a:xfrm>
            <a:off x="11657488" y="7474268"/>
            <a:ext cx="4117023" cy="740410"/>
          </a:xfrm>
          <a:prstGeom prst="roundRect">
            <a:avLst>
              <a:gd name="adj" fmla="val 23156"/>
            </a:avLst>
          </a:prstGeom>
          <a:solidFill>
            <a:srgbClr val="161618">
              <a:alpha val="70000"/>
            </a:srgbClr>
          </a:solidFill>
          <a:ln w="5239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11822906" y="7639685"/>
            <a:ext cx="409416" cy="409416"/>
          </a:xfrm>
          <a:prstGeom prst="roundRect">
            <a:avLst>
              <a:gd name="adj" fmla="val 23265"/>
            </a:avLst>
          </a:prstGeom>
          <a:solidFill>
            <a:srgbClr val="1C1C1F"/>
          </a:solidFill>
          <a:ln/>
        </p:spPr>
      </p:sp>
      <p:pic>
        <p:nvPicPr>
          <p:cNvPr id="8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25300" y="7742079"/>
            <a:ext cx="204788" cy="204788"/>
          </a:xfrm>
          <a:prstGeom prst="rect">
            <a:avLst/>
          </a:prstGeom>
        </p:spPr>
      </p:pic>
      <p:sp>
        <p:nvSpPr>
          <p:cNvPr id="85" name="Text 76"/>
          <p:cNvSpPr/>
          <p:nvPr/>
        </p:nvSpPr>
        <p:spPr>
          <a:xfrm>
            <a:off x="12368847" y="7653496"/>
            <a:ext cx="3032830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Schulterdrücken</a:t>
            </a:r>
            <a:endParaRPr lang="en-US" sz="1050" dirty="0"/>
          </a:p>
        </p:txBody>
      </p:sp>
      <p:sp>
        <p:nvSpPr>
          <p:cNvPr id="86" name="Text 77"/>
          <p:cNvSpPr/>
          <p:nvPr/>
        </p:nvSpPr>
        <p:spPr>
          <a:xfrm>
            <a:off x="12368847" y="7866221"/>
            <a:ext cx="303283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Als nächstes · 4×10</a:t>
            </a:r>
            <a:endParaRPr lang="en-US" sz="825" dirty="0"/>
          </a:p>
        </p:txBody>
      </p:sp>
      <p:pic>
        <p:nvPicPr>
          <p:cNvPr id="8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9708" y="7764780"/>
            <a:ext cx="159226" cy="159226"/>
          </a:xfrm>
          <a:prstGeom prst="rect">
            <a:avLst/>
          </a:prstGeom>
        </p:spPr>
      </p:pic>
      <p:sp>
        <p:nvSpPr>
          <p:cNvPr id="88" name="Shape 78"/>
          <p:cNvSpPr/>
          <p:nvPr/>
        </p:nvSpPr>
        <p:spPr>
          <a:xfrm>
            <a:off x="11657488" y="9499124"/>
            <a:ext cx="3366294" cy="636905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pic>
        <p:nvPicPr>
          <p:cNvPr id="8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0285" y="9715341"/>
            <a:ext cx="204788" cy="204788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12697937" y="9695498"/>
            <a:ext cx="1581150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Satz abschließen</a:t>
            </a:r>
            <a:endParaRPr lang="en-US" sz="1200" dirty="0"/>
          </a:p>
        </p:txBody>
      </p:sp>
      <p:sp>
        <p:nvSpPr>
          <p:cNvPr id="91" name="Shape 80"/>
          <p:cNvSpPr/>
          <p:nvPr/>
        </p:nvSpPr>
        <p:spPr>
          <a:xfrm>
            <a:off x="15137606" y="9499124"/>
            <a:ext cx="636905" cy="636905"/>
          </a:xfrm>
          <a:prstGeom prst="roundRect">
            <a:avLst>
              <a:gd name="adj" fmla="val 41874"/>
            </a:avLst>
          </a:prstGeom>
          <a:solidFill>
            <a:srgbClr val="161618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9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64937" y="9726613"/>
            <a:ext cx="181927" cy="181927"/>
          </a:xfrm>
          <a:prstGeom prst="rect">
            <a:avLst/>
          </a:prstGeom>
        </p:spPr>
      </p:pic>
      <p:sp>
        <p:nvSpPr>
          <p:cNvPr id="93" name="Shape 81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11416"/>
            <a:ext cx="16482060" cy="44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50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43000" y="4419600"/>
            <a:ext cx="1648206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375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Cardio.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5989320"/>
            <a:ext cx="882967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Live-Lauf-Tracking und Historie. Distanz, Pace, Höhenmeter, Splits, Route.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CARDIO · 01 /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Live-Lauf.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Distanz groß, Zeit · Pace · BPM darunter. Höhenprofil als Sparkline. Splits pro Kilometer mit „Best“-Highlight.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50292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35052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93520" y="9831705"/>
            <a:ext cx="115347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3059" y="9894093"/>
            <a:ext cx="99060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HÖHENMETER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5597" y="9831705"/>
            <a:ext cx="78771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5136" y="9894093"/>
            <a:ext cx="62484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SPLITS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57488" y="1305243"/>
            <a:ext cx="90964" cy="90964"/>
          </a:xfrm>
          <a:prstGeom prst="roundRect">
            <a:avLst>
              <a:gd name="adj" fmla="val 41885"/>
            </a:avLst>
          </a:prstGeom>
          <a:solidFill>
            <a:srgbClr val="C8FF3D"/>
          </a:solidFill>
          <a:ln/>
          <a:effectLst>
            <a:outerShdw sx="100000" sy="100000" kx="0" ky="0" algn="bl" rotWithShape="0" blurRad="101600" dist="50800" dir="16200000">
              <a:srgbClr val="C8FF3D">
                <a:alpha val="133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39417" y="1266349"/>
            <a:ext cx="128619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LIVE · GPS GUT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14927898" y="1185704"/>
            <a:ext cx="846455" cy="330359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0614" y="1271111"/>
            <a:ext cx="159226" cy="15922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260002" y="1260158"/>
            <a:ext cx="409734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Karte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95733" y="1925479"/>
            <a:ext cx="424053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DISTANZ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1595733" y="2139791"/>
            <a:ext cx="4240533" cy="103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spc="-262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5,42 </a:t>
            </a:r>
            <a:pPr algn="ctr" indent="0" marL="0">
              <a:lnSpc>
                <a:spcPct val="100000"/>
              </a:lnSpc>
              <a:buNone/>
            </a:pPr>
            <a:r>
              <a:rPr lang="en-US" sz="2100" spc="-262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</a:t>
            </a:r>
            <a:endParaRPr lang="en-US" sz="6600" dirty="0"/>
          </a:p>
        </p:txBody>
      </p:sp>
      <p:sp>
        <p:nvSpPr>
          <p:cNvPr id="22" name="Text 19"/>
          <p:cNvSpPr/>
          <p:nvPr/>
        </p:nvSpPr>
        <p:spPr>
          <a:xfrm>
            <a:off x="11687652" y="3550126"/>
            <a:ext cx="131206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ZEIT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687652" y="3774599"/>
            <a:ext cx="1312069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28:14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3029723" y="3550126"/>
            <a:ext cx="9525" cy="6499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3066236" y="3550126"/>
            <a:ext cx="130571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PACE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3066236" y="3774599"/>
            <a:ext cx="1305719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75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5:12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4402117" y="3550126"/>
            <a:ext cx="9525" cy="64992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4438471" y="3550126"/>
            <a:ext cx="130571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BPM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4438471" y="3774599"/>
            <a:ext cx="1305719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154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1657488" y="4618037"/>
            <a:ext cx="94059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HÖHENMETER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5296833" y="4586764"/>
            <a:ext cx="553879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+82</a:t>
            </a:r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</a:t>
            </a:r>
            <a:endParaRPr lang="en-US" sz="10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488" y="4890294"/>
            <a:ext cx="4117023" cy="72786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1657488" y="5891213"/>
            <a:ext cx="424053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SPLITS</a:t>
            </a:r>
            <a:endParaRPr lang="en-US" sz="825" dirty="0"/>
          </a:p>
        </p:txBody>
      </p:sp>
      <p:sp>
        <p:nvSpPr>
          <p:cNvPr id="34" name="Shape 30"/>
          <p:cNvSpPr/>
          <p:nvPr/>
        </p:nvSpPr>
        <p:spPr>
          <a:xfrm>
            <a:off x="11657488" y="6151086"/>
            <a:ext cx="4117023" cy="2144395"/>
          </a:xfrm>
          <a:prstGeom prst="roundRect">
            <a:avLst>
              <a:gd name="adj" fmla="val 6219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663680" y="6579711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11822906" y="6270943"/>
            <a:ext cx="48561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KM1</a:t>
            </a:r>
            <a:endParaRPr lang="en-US" sz="975" dirty="0"/>
          </a:p>
        </p:txBody>
      </p:sp>
      <p:sp>
        <p:nvSpPr>
          <p:cNvPr id="37" name="Shape 33"/>
          <p:cNvSpPr/>
          <p:nvPr/>
        </p:nvSpPr>
        <p:spPr>
          <a:xfrm>
            <a:off x="12323286" y="6345079"/>
            <a:ext cx="1784350" cy="45561"/>
          </a:xfrm>
          <a:prstGeom prst="roundRect">
            <a:avLst>
              <a:gd name="adj" fmla="val 41812"/>
            </a:avLst>
          </a:prstGeom>
          <a:solidFill>
            <a:srgbClr val="1C1C1F"/>
          </a:solidFill>
          <a:ln/>
        </p:spPr>
      </p:sp>
      <p:sp>
        <p:nvSpPr>
          <p:cNvPr id="38" name="Shape 34"/>
          <p:cNvSpPr/>
          <p:nvPr/>
        </p:nvSpPr>
        <p:spPr>
          <a:xfrm>
            <a:off x="12323286" y="6345079"/>
            <a:ext cx="785177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39" name="Text 35"/>
          <p:cNvSpPr/>
          <p:nvPr/>
        </p:nvSpPr>
        <p:spPr>
          <a:xfrm>
            <a:off x="14198759" y="6270943"/>
            <a:ext cx="758507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5:18/km</a:t>
            </a:r>
            <a:endParaRPr lang="en-US" sz="975" dirty="0"/>
          </a:p>
        </p:txBody>
      </p:sp>
      <p:sp>
        <p:nvSpPr>
          <p:cNvPr id="40" name="Text 36"/>
          <p:cNvSpPr/>
          <p:nvPr/>
        </p:nvSpPr>
        <p:spPr>
          <a:xfrm>
            <a:off x="14895830" y="6270943"/>
            <a:ext cx="71310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148bpm</a:t>
            </a:r>
            <a:endParaRPr lang="en-US" sz="975" dirty="0"/>
          </a:p>
        </p:txBody>
      </p:sp>
      <p:sp>
        <p:nvSpPr>
          <p:cNvPr id="41" name="Shape 37"/>
          <p:cNvSpPr/>
          <p:nvPr/>
        </p:nvSpPr>
        <p:spPr>
          <a:xfrm>
            <a:off x="11663680" y="7007384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11822906" y="6698615"/>
            <a:ext cx="48561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KM2</a:t>
            </a:r>
            <a:endParaRPr lang="en-US" sz="975" dirty="0"/>
          </a:p>
        </p:txBody>
      </p:sp>
      <p:sp>
        <p:nvSpPr>
          <p:cNvPr id="43" name="Shape 39"/>
          <p:cNvSpPr/>
          <p:nvPr/>
        </p:nvSpPr>
        <p:spPr>
          <a:xfrm>
            <a:off x="12323286" y="6772751"/>
            <a:ext cx="1784350" cy="45561"/>
          </a:xfrm>
          <a:prstGeom prst="roundRect">
            <a:avLst>
              <a:gd name="adj" fmla="val 41812"/>
            </a:avLst>
          </a:prstGeom>
          <a:solidFill>
            <a:srgbClr val="1C1C1F"/>
          </a:solidFill>
          <a:ln/>
        </p:spPr>
      </p:sp>
      <p:sp>
        <p:nvSpPr>
          <p:cNvPr id="44" name="Shape 40"/>
          <p:cNvSpPr/>
          <p:nvPr/>
        </p:nvSpPr>
        <p:spPr>
          <a:xfrm>
            <a:off x="12323286" y="6772751"/>
            <a:ext cx="1034891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45" name="Text 41"/>
          <p:cNvSpPr/>
          <p:nvPr/>
        </p:nvSpPr>
        <p:spPr>
          <a:xfrm>
            <a:off x="14198759" y="6698615"/>
            <a:ext cx="758507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5:14/km</a:t>
            </a:r>
            <a:endParaRPr lang="en-US" sz="975" dirty="0"/>
          </a:p>
        </p:txBody>
      </p:sp>
      <p:sp>
        <p:nvSpPr>
          <p:cNvPr id="46" name="Text 42"/>
          <p:cNvSpPr/>
          <p:nvPr/>
        </p:nvSpPr>
        <p:spPr>
          <a:xfrm>
            <a:off x="14895830" y="6698615"/>
            <a:ext cx="71310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152bpm</a:t>
            </a:r>
            <a:endParaRPr lang="en-US" sz="975" dirty="0"/>
          </a:p>
        </p:txBody>
      </p:sp>
      <p:sp>
        <p:nvSpPr>
          <p:cNvPr id="47" name="Shape 43"/>
          <p:cNvSpPr/>
          <p:nvPr/>
        </p:nvSpPr>
        <p:spPr>
          <a:xfrm>
            <a:off x="11663680" y="7434898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11822906" y="7126288"/>
            <a:ext cx="48561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KM3</a:t>
            </a:r>
            <a:endParaRPr lang="en-US" sz="975" dirty="0"/>
          </a:p>
        </p:txBody>
      </p:sp>
      <p:sp>
        <p:nvSpPr>
          <p:cNvPr id="49" name="Shape 45"/>
          <p:cNvSpPr/>
          <p:nvPr/>
        </p:nvSpPr>
        <p:spPr>
          <a:xfrm>
            <a:off x="12323286" y="7200424"/>
            <a:ext cx="1784350" cy="45561"/>
          </a:xfrm>
          <a:prstGeom prst="roundRect">
            <a:avLst>
              <a:gd name="adj" fmla="val 41812"/>
            </a:avLst>
          </a:prstGeom>
          <a:solidFill>
            <a:srgbClr val="1C1C1F"/>
          </a:solidFill>
          <a:ln/>
        </p:spPr>
      </p:sp>
      <p:sp>
        <p:nvSpPr>
          <p:cNvPr id="50" name="Shape 46"/>
          <p:cNvSpPr/>
          <p:nvPr/>
        </p:nvSpPr>
        <p:spPr>
          <a:xfrm>
            <a:off x="12323286" y="7200424"/>
            <a:ext cx="1284764" cy="45561"/>
          </a:xfrm>
          <a:prstGeom prst="roundRect">
            <a:avLst>
              <a:gd name="adj" fmla="val 41812"/>
            </a:avLst>
          </a:prstGeom>
          <a:solidFill>
            <a:srgbClr val="C8FF3D"/>
          </a:solidFill>
          <a:ln/>
        </p:spPr>
      </p:sp>
      <p:sp>
        <p:nvSpPr>
          <p:cNvPr id="51" name="Text 47"/>
          <p:cNvSpPr/>
          <p:nvPr/>
        </p:nvSpPr>
        <p:spPr>
          <a:xfrm>
            <a:off x="14198759" y="7126288"/>
            <a:ext cx="758507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5:09/km</a:t>
            </a:r>
            <a:endParaRPr lang="en-US" sz="975" dirty="0"/>
          </a:p>
        </p:txBody>
      </p:sp>
      <p:sp>
        <p:nvSpPr>
          <p:cNvPr id="52" name="Text 48"/>
          <p:cNvSpPr/>
          <p:nvPr/>
        </p:nvSpPr>
        <p:spPr>
          <a:xfrm>
            <a:off x="14895830" y="7126288"/>
            <a:ext cx="71310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156bpm</a:t>
            </a:r>
            <a:endParaRPr lang="en-US" sz="975" dirty="0"/>
          </a:p>
        </p:txBody>
      </p:sp>
      <p:sp>
        <p:nvSpPr>
          <p:cNvPr id="53" name="Shape 49"/>
          <p:cNvSpPr/>
          <p:nvPr/>
        </p:nvSpPr>
        <p:spPr>
          <a:xfrm>
            <a:off x="11663680" y="7862570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4" name="Text 50"/>
          <p:cNvSpPr/>
          <p:nvPr/>
        </p:nvSpPr>
        <p:spPr>
          <a:xfrm>
            <a:off x="11822906" y="7553801"/>
            <a:ext cx="48561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KM4</a:t>
            </a:r>
            <a:endParaRPr lang="en-US" sz="975" dirty="0"/>
          </a:p>
        </p:txBody>
      </p:sp>
      <p:sp>
        <p:nvSpPr>
          <p:cNvPr id="55" name="Shape 51"/>
          <p:cNvSpPr/>
          <p:nvPr/>
        </p:nvSpPr>
        <p:spPr>
          <a:xfrm>
            <a:off x="12323286" y="7627937"/>
            <a:ext cx="1784350" cy="45561"/>
          </a:xfrm>
          <a:prstGeom prst="roundRect">
            <a:avLst>
              <a:gd name="adj" fmla="val 41812"/>
            </a:avLst>
          </a:prstGeom>
          <a:solidFill>
            <a:srgbClr val="1C1C1F"/>
          </a:solidFill>
          <a:ln/>
        </p:spPr>
      </p:sp>
      <p:sp>
        <p:nvSpPr>
          <p:cNvPr id="56" name="Shape 52"/>
          <p:cNvSpPr/>
          <p:nvPr/>
        </p:nvSpPr>
        <p:spPr>
          <a:xfrm>
            <a:off x="12323286" y="7627937"/>
            <a:ext cx="1534636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57" name="Text 53"/>
          <p:cNvSpPr/>
          <p:nvPr/>
        </p:nvSpPr>
        <p:spPr>
          <a:xfrm>
            <a:off x="14198759" y="7553801"/>
            <a:ext cx="758507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5:11/km</a:t>
            </a:r>
            <a:endParaRPr lang="en-US" sz="975" dirty="0"/>
          </a:p>
        </p:txBody>
      </p:sp>
      <p:sp>
        <p:nvSpPr>
          <p:cNvPr id="58" name="Text 54"/>
          <p:cNvSpPr/>
          <p:nvPr/>
        </p:nvSpPr>
        <p:spPr>
          <a:xfrm>
            <a:off x="14895830" y="7553801"/>
            <a:ext cx="71310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155bpm</a:t>
            </a:r>
            <a:endParaRPr lang="en-US" sz="975" dirty="0"/>
          </a:p>
        </p:txBody>
      </p:sp>
      <p:sp>
        <p:nvSpPr>
          <p:cNvPr id="59" name="Text 55"/>
          <p:cNvSpPr/>
          <p:nvPr/>
        </p:nvSpPr>
        <p:spPr>
          <a:xfrm>
            <a:off x="11822906" y="7981474"/>
            <a:ext cx="48561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KM5</a:t>
            </a:r>
            <a:endParaRPr lang="en-US" sz="975" dirty="0"/>
          </a:p>
        </p:txBody>
      </p:sp>
      <p:sp>
        <p:nvSpPr>
          <p:cNvPr id="60" name="Shape 56"/>
          <p:cNvSpPr/>
          <p:nvPr/>
        </p:nvSpPr>
        <p:spPr>
          <a:xfrm>
            <a:off x="12323286" y="8055610"/>
            <a:ext cx="1784350" cy="45561"/>
          </a:xfrm>
          <a:prstGeom prst="roundRect">
            <a:avLst>
              <a:gd name="adj" fmla="val 41812"/>
            </a:avLst>
          </a:prstGeom>
          <a:solidFill>
            <a:srgbClr val="1C1C1F"/>
          </a:solidFill>
          <a:ln/>
        </p:spPr>
      </p:sp>
      <p:sp>
        <p:nvSpPr>
          <p:cNvPr id="61" name="Shape 57"/>
          <p:cNvSpPr/>
          <p:nvPr/>
        </p:nvSpPr>
        <p:spPr>
          <a:xfrm>
            <a:off x="12323286" y="8055610"/>
            <a:ext cx="1784350" cy="45561"/>
          </a:xfrm>
          <a:prstGeom prst="roundRect">
            <a:avLst>
              <a:gd name="adj" fmla="val 41812"/>
            </a:avLst>
          </a:prstGeom>
          <a:solidFill>
            <a:srgbClr val="F6F6F7"/>
          </a:solidFill>
          <a:ln/>
        </p:spPr>
      </p:sp>
      <p:sp>
        <p:nvSpPr>
          <p:cNvPr id="62" name="Text 58"/>
          <p:cNvSpPr/>
          <p:nvPr/>
        </p:nvSpPr>
        <p:spPr>
          <a:xfrm>
            <a:off x="14198759" y="7981474"/>
            <a:ext cx="758507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5:08/km</a:t>
            </a:r>
            <a:endParaRPr lang="en-US" sz="975" dirty="0"/>
          </a:p>
        </p:txBody>
      </p:sp>
      <p:sp>
        <p:nvSpPr>
          <p:cNvPr id="63" name="Text 59"/>
          <p:cNvSpPr/>
          <p:nvPr/>
        </p:nvSpPr>
        <p:spPr>
          <a:xfrm>
            <a:off x="14895830" y="7981474"/>
            <a:ext cx="713105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158bpm</a:t>
            </a:r>
            <a:endParaRPr lang="en-US" sz="975" dirty="0"/>
          </a:p>
        </p:txBody>
      </p:sp>
      <p:sp>
        <p:nvSpPr>
          <p:cNvPr id="64" name="Shape 60"/>
          <p:cNvSpPr/>
          <p:nvPr/>
        </p:nvSpPr>
        <p:spPr>
          <a:xfrm>
            <a:off x="12373927" y="9294495"/>
            <a:ext cx="682307" cy="682307"/>
          </a:xfrm>
          <a:prstGeom prst="roundRect">
            <a:avLst>
              <a:gd name="adj" fmla="val 41880"/>
            </a:avLst>
          </a:prstGeom>
          <a:solidFill>
            <a:srgbClr val="161618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846" y="9533255"/>
            <a:ext cx="204788" cy="204788"/>
          </a:xfrm>
          <a:prstGeom prst="rect">
            <a:avLst/>
          </a:prstGeom>
        </p:spPr>
      </p:pic>
      <p:sp>
        <p:nvSpPr>
          <p:cNvPr id="66" name="Shape 61"/>
          <p:cNvSpPr/>
          <p:nvPr/>
        </p:nvSpPr>
        <p:spPr>
          <a:xfrm>
            <a:off x="13215461" y="9135269"/>
            <a:ext cx="1000760" cy="1000760"/>
          </a:xfrm>
          <a:prstGeom prst="roundRect">
            <a:avLst>
              <a:gd name="adj" fmla="val 41878"/>
            </a:avLst>
          </a:prstGeom>
          <a:solidFill>
            <a:srgbClr val="C8FF3D"/>
          </a:solidFill>
          <a:ln w="73343">
            <a:solidFill>
              <a:srgbClr val="0B0B0C"/>
            </a:solidFill>
            <a:prstDash val="solid"/>
          </a:ln>
          <a:effectLst>
            <a:outerShdw sx="100000" sy="100000" kx="0" ky="0" algn="bl" rotWithShape="0" blurRad="101600" dist="50800" dir="16200000">
              <a:srgbClr val="C8FF3D">
                <a:alpha val="100000"/>
              </a:srgbClr>
            </a:outerShdw>
          </a:effectLst>
        </p:spPr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905" y="9510554"/>
            <a:ext cx="250190" cy="250190"/>
          </a:xfrm>
          <a:prstGeom prst="rect">
            <a:avLst/>
          </a:prstGeom>
        </p:spPr>
      </p:pic>
      <p:sp>
        <p:nvSpPr>
          <p:cNvPr id="68" name="Shape 62"/>
          <p:cNvSpPr/>
          <p:nvPr/>
        </p:nvSpPr>
        <p:spPr>
          <a:xfrm>
            <a:off x="14375606" y="9294495"/>
            <a:ext cx="682307" cy="682307"/>
          </a:xfrm>
          <a:prstGeom prst="roundRect">
            <a:avLst>
              <a:gd name="adj" fmla="val 41880"/>
            </a:avLst>
          </a:prstGeom>
          <a:solidFill>
            <a:srgbClr val="161618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14566106" y="9551194"/>
            <a:ext cx="30130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LAP</a:t>
            </a:r>
            <a:endParaRPr lang="en-US" sz="825" dirty="0"/>
          </a:p>
        </p:txBody>
      </p:sp>
      <p:sp>
        <p:nvSpPr>
          <p:cNvPr id="70" name="Shape 64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CARDIO · 02 /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Historie.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Monatszusammenfassung mit Wochen-Bars und Ø-Pace. Lauf-Liste mit Mini-Karten, Detail-View mit Hero-Route.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68580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53340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KARTE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76400" y="9831705"/>
            <a:ext cx="106203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5939" y="9894093"/>
            <a:ext cx="89916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MINI-MAPS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3" name="Text 11"/>
          <p:cNvSpPr/>
          <p:nvPr/>
        </p:nvSpPr>
        <p:spPr>
          <a:xfrm>
            <a:off x="11657488" y="1185704"/>
            <a:ext cx="363128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CARDIO · MAI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1657488" y="1422718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Läufe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319534" y="1350010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6059" y="1486376"/>
            <a:ext cx="181928" cy="181927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1657488" y="1964055"/>
            <a:ext cx="4117023" cy="2640171"/>
          </a:xfrm>
          <a:prstGeom prst="roundRect">
            <a:avLst>
              <a:gd name="adj" fmla="val 7937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68467" y="2175034"/>
            <a:ext cx="130444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MAI · 8 LÄUFE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1868467" y="2434907"/>
            <a:ext cx="995204" cy="576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10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42,8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2832874" y="2685097"/>
            <a:ext cx="267335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868467" y="3018314"/>
            <a:ext cx="130444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↑ 18% vs. April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641195" y="2175034"/>
            <a:ext cx="92233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Ø PACE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4641195" y="2434907"/>
            <a:ext cx="92233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5:14</a:t>
            </a:r>
            <a:pPr algn="r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/km</a:t>
            </a:r>
            <a:endParaRPr lang="en-US" sz="16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467" y="3381692"/>
            <a:ext cx="3707606" cy="95535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657488" y="4786313"/>
            <a:ext cx="114982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LETZTE LÄUFE</a:t>
            </a:r>
            <a:endParaRPr lang="en-US" sz="975" dirty="0"/>
          </a:p>
        </p:txBody>
      </p:sp>
      <p:sp>
        <p:nvSpPr>
          <p:cNvPr id="26" name="Shape 22"/>
          <p:cNvSpPr/>
          <p:nvPr/>
        </p:nvSpPr>
        <p:spPr>
          <a:xfrm>
            <a:off x="11657488" y="5116671"/>
            <a:ext cx="4117023" cy="1058863"/>
          </a:xfrm>
          <a:prstGeom prst="roundRect">
            <a:avLst>
              <a:gd name="adj" fmla="val 179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822906" y="5282089"/>
            <a:ext cx="818832" cy="727869"/>
          </a:xfrm>
          <a:prstGeom prst="roundRect">
            <a:avLst>
              <a:gd name="adj" fmla="val 18321"/>
            </a:avLst>
          </a:prstGeom>
          <a:solidFill>
            <a:srgbClr val="1C1C1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906" y="5282089"/>
            <a:ext cx="818832" cy="72786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778264" y="5287804"/>
            <a:ext cx="2611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HEUTE · 07:42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12778264" y="5489734"/>
            <a:ext cx="622141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5,42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13369607" y="5589746"/>
            <a:ext cx="22637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12778264" y="5835491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28:14</a:t>
            </a:r>
            <a:endParaRPr lang="en-US" sz="825" dirty="0"/>
          </a:p>
        </p:txBody>
      </p:sp>
      <p:sp>
        <p:nvSpPr>
          <p:cNvPr id="33" name="Text 28"/>
          <p:cNvSpPr/>
          <p:nvPr/>
        </p:nvSpPr>
        <p:spPr>
          <a:xfrm>
            <a:off x="13244513" y="5835491"/>
            <a:ext cx="1512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13410565" y="5835491"/>
            <a:ext cx="60166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5:12/km</a:t>
            </a:r>
            <a:endParaRPr lang="en-US" sz="825" dirty="0"/>
          </a:p>
        </p:txBody>
      </p:sp>
      <p:sp>
        <p:nvSpPr>
          <p:cNvPr id="35" name="Text 30"/>
          <p:cNvSpPr/>
          <p:nvPr/>
        </p:nvSpPr>
        <p:spPr>
          <a:xfrm>
            <a:off x="14026991" y="5835491"/>
            <a:ext cx="1512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14193044" y="5835491"/>
            <a:ext cx="37639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+82m</a:t>
            </a:r>
            <a:endParaRPr lang="en-US" sz="825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9708" y="5552440"/>
            <a:ext cx="159226" cy="159226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1657488" y="6289199"/>
            <a:ext cx="4117023" cy="1058862"/>
          </a:xfrm>
          <a:prstGeom prst="roundRect">
            <a:avLst>
              <a:gd name="adj" fmla="val 179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822906" y="6454616"/>
            <a:ext cx="818832" cy="727869"/>
          </a:xfrm>
          <a:prstGeom prst="roundRect">
            <a:avLst>
              <a:gd name="adj" fmla="val 18321"/>
            </a:avLst>
          </a:prstGeom>
          <a:solidFill>
            <a:srgbClr val="1C1C1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2906" y="6454616"/>
            <a:ext cx="818832" cy="727869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2778264" y="6460331"/>
            <a:ext cx="2611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 · 12. MAI</a:t>
            </a:r>
            <a:endParaRPr lang="en-US" sz="750" dirty="0"/>
          </a:p>
        </p:txBody>
      </p:sp>
      <p:sp>
        <p:nvSpPr>
          <p:cNvPr id="42" name="Text 35"/>
          <p:cNvSpPr/>
          <p:nvPr/>
        </p:nvSpPr>
        <p:spPr>
          <a:xfrm>
            <a:off x="12778264" y="6662261"/>
            <a:ext cx="622141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8,10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13369607" y="6762274"/>
            <a:ext cx="22637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</a:t>
            </a:r>
            <a:endParaRPr lang="en-US" sz="825" dirty="0"/>
          </a:p>
        </p:txBody>
      </p:sp>
      <p:sp>
        <p:nvSpPr>
          <p:cNvPr id="44" name="Text 37"/>
          <p:cNvSpPr/>
          <p:nvPr/>
        </p:nvSpPr>
        <p:spPr>
          <a:xfrm>
            <a:off x="12778264" y="7008019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42:50</a:t>
            </a:r>
            <a:endParaRPr lang="en-US" sz="825" dirty="0"/>
          </a:p>
        </p:txBody>
      </p:sp>
      <p:sp>
        <p:nvSpPr>
          <p:cNvPr id="45" name="Text 38"/>
          <p:cNvSpPr/>
          <p:nvPr/>
        </p:nvSpPr>
        <p:spPr>
          <a:xfrm>
            <a:off x="13244513" y="7008019"/>
            <a:ext cx="1512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825" dirty="0"/>
          </a:p>
        </p:txBody>
      </p:sp>
      <p:sp>
        <p:nvSpPr>
          <p:cNvPr id="46" name="Text 39"/>
          <p:cNvSpPr/>
          <p:nvPr/>
        </p:nvSpPr>
        <p:spPr>
          <a:xfrm>
            <a:off x="13410565" y="7008019"/>
            <a:ext cx="60166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5:18/km</a:t>
            </a:r>
            <a:endParaRPr lang="en-US" sz="825" dirty="0"/>
          </a:p>
        </p:txBody>
      </p:sp>
      <p:sp>
        <p:nvSpPr>
          <p:cNvPr id="47" name="Text 40"/>
          <p:cNvSpPr/>
          <p:nvPr/>
        </p:nvSpPr>
        <p:spPr>
          <a:xfrm>
            <a:off x="14026991" y="7008019"/>
            <a:ext cx="1512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825" dirty="0"/>
          </a:p>
        </p:txBody>
      </p:sp>
      <p:sp>
        <p:nvSpPr>
          <p:cNvPr id="48" name="Text 41"/>
          <p:cNvSpPr/>
          <p:nvPr/>
        </p:nvSpPr>
        <p:spPr>
          <a:xfrm>
            <a:off x="14193044" y="7008019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+124m</a:t>
            </a:r>
            <a:endParaRPr lang="en-US" sz="825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9708" y="6724967"/>
            <a:ext cx="159226" cy="159226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11657488" y="7461726"/>
            <a:ext cx="4117023" cy="1058863"/>
          </a:xfrm>
          <a:prstGeom prst="roundRect">
            <a:avLst>
              <a:gd name="adj" fmla="val 1799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1822906" y="7627144"/>
            <a:ext cx="818832" cy="727869"/>
          </a:xfrm>
          <a:prstGeom prst="roundRect">
            <a:avLst>
              <a:gd name="adj" fmla="val 18321"/>
            </a:avLst>
          </a:prstGeom>
          <a:solidFill>
            <a:srgbClr val="1C1C1F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2906" y="7627144"/>
            <a:ext cx="818832" cy="727869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2778264" y="7632859"/>
            <a:ext cx="2611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SA · 10. MAI</a:t>
            </a:r>
            <a:endParaRPr lang="en-US" sz="750" dirty="0"/>
          </a:p>
        </p:txBody>
      </p:sp>
      <p:sp>
        <p:nvSpPr>
          <p:cNvPr id="54" name="Text 45"/>
          <p:cNvSpPr/>
          <p:nvPr/>
        </p:nvSpPr>
        <p:spPr>
          <a:xfrm>
            <a:off x="12778264" y="7834789"/>
            <a:ext cx="758507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12,02</a:t>
            </a:r>
            <a:endParaRPr lang="en-US" sz="1500" dirty="0"/>
          </a:p>
        </p:txBody>
      </p:sp>
      <p:sp>
        <p:nvSpPr>
          <p:cNvPr id="55" name="Text 46"/>
          <p:cNvSpPr/>
          <p:nvPr/>
        </p:nvSpPr>
        <p:spPr>
          <a:xfrm>
            <a:off x="13506133" y="7934801"/>
            <a:ext cx="22637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</a:t>
            </a:r>
            <a:endParaRPr lang="en-US" sz="825" dirty="0"/>
          </a:p>
        </p:txBody>
      </p:sp>
      <p:sp>
        <p:nvSpPr>
          <p:cNvPr id="56" name="Text 47"/>
          <p:cNvSpPr/>
          <p:nvPr/>
        </p:nvSpPr>
        <p:spPr>
          <a:xfrm>
            <a:off x="12778264" y="8180546"/>
            <a:ext cx="60166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1:04:30</a:t>
            </a:r>
            <a:endParaRPr lang="en-US" sz="825" dirty="0"/>
          </a:p>
        </p:txBody>
      </p:sp>
      <p:sp>
        <p:nvSpPr>
          <p:cNvPr id="57" name="Text 48"/>
          <p:cNvSpPr/>
          <p:nvPr/>
        </p:nvSpPr>
        <p:spPr>
          <a:xfrm>
            <a:off x="13394689" y="8180546"/>
            <a:ext cx="1512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825" dirty="0"/>
          </a:p>
        </p:txBody>
      </p:sp>
      <p:sp>
        <p:nvSpPr>
          <p:cNvPr id="58" name="Text 49"/>
          <p:cNvSpPr/>
          <p:nvPr/>
        </p:nvSpPr>
        <p:spPr>
          <a:xfrm>
            <a:off x="13560742" y="8180546"/>
            <a:ext cx="601663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5:22/km</a:t>
            </a:r>
            <a:endParaRPr lang="en-US" sz="825" dirty="0"/>
          </a:p>
        </p:txBody>
      </p:sp>
      <p:sp>
        <p:nvSpPr>
          <p:cNvPr id="59" name="Text 50"/>
          <p:cNvSpPr/>
          <p:nvPr/>
        </p:nvSpPr>
        <p:spPr>
          <a:xfrm>
            <a:off x="14177168" y="8180546"/>
            <a:ext cx="15128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>
                    <a:alpha val="4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·</a:t>
            </a:r>
            <a:endParaRPr lang="en-US" sz="825" dirty="0"/>
          </a:p>
        </p:txBody>
      </p:sp>
      <p:sp>
        <p:nvSpPr>
          <p:cNvPr id="60" name="Text 51"/>
          <p:cNvSpPr/>
          <p:nvPr/>
        </p:nvSpPr>
        <p:spPr>
          <a:xfrm>
            <a:off x="14343221" y="8180546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+186m</a:t>
            </a:r>
            <a:endParaRPr lang="en-US" sz="825" dirty="0"/>
          </a:p>
        </p:txBody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9708" y="7897495"/>
            <a:ext cx="159226" cy="159226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11657488" y="8793480"/>
            <a:ext cx="4117023" cy="3090069"/>
          </a:xfrm>
          <a:prstGeom prst="roundRect">
            <a:avLst>
              <a:gd name="adj" fmla="val 6781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1663680" y="8799830"/>
            <a:ext cx="4104481" cy="2047081"/>
          </a:xfrm>
          <a:prstGeom prst="rect">
            <a:avLst/>
          </a:prstGeom>
          <a:solidFill>
            <a:srgbClr val="1C1C1F"/>
          </a:solidFill>
          <a:ln/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3680" y="8799830"/>
            <a:ext cx="4104481" cy="2047081"/>
          </a:xfrm>
          <a:prstGeom prst="rect">
            <a:avLst/>
          </a:prstGeom>
        </p:spPr>
      </p:pic>
      <p:sp>
        <p:nvSpPr>
          <p:cNvPr id="65" name="Shape 54"/>
          <p:cNvSpPr/>
          <p:nvPr/>
        </p:nvSpPr>
        <p:spPr>
          <a:xfrm>
            <a:off x="11822906" y="8936196"/>
            <a:ext cx="2105184" cy="259874"/>
          </a:xfrm>
          <a:prstGeom prst="roundRect">
            <a:avLst>
              <a:gd name="adj" fmla="val 14661"/>
            </a:avLst>
          </a:prstGeom>
          <a:solidFill>
            <a:srgbClr val="0B0B0C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11904345" y="8979535"/>
            <a:ext cx="2018506" cy="21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ENGLISCHER GARTEN · LOOP</a:t>
            </a:r>
            <a:endParaRPr lang="en-US" sz="750" dirty="0"/>
          </a:p>
        </p:txBody>
      </p:sp>
      <p:sp>
        <p:nvSpPr>
          <p:cNvPr id="67" name="Text 56"/>
          <p:cNvSpPr/>
          <p:nvPr/>
        </p:nvSpPr>
        <p:spPr>
          <a:xfrm>
            <a:off x="11845607" y="11028838"/>
            <a:ext cx="385268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HEUTE · 07:42</a:t>
            </a:r>
            <a:endParaRPr lang="en-US" sz="825" dirty="0"/>
          </a:p>
        </p:txBody>
      </p:sp>
      <p:sp>
        <p:nvSpPr>
          <p:cNvPr id="68" name="Text 57"/>
          <p:cNvSpPr/>
          <p:nvPr/>
        </p:nvSpPr>
        <p:spPr>
          <a:xfrm>
            <a:off x="11845607" y="11288712"/>
            <a:ext cx="692626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DISTANZ</a:t>
            </a:r>
            <a:endParaRPr lang="en-US" sz="675" dirty="0"/>
          </a:p>
        </p:txBody>
      </p:sp>
      <p:sp>
        <p:nvSpPr>
          <p:cNvPr id="69" name="Text 58"/>
          <p:cNvSpPr/>
          <p:nvPr/>
        </p:nvSpPr>
        <p:spPr>
          <a:xfrm>
            <a:off x="11845607" y="11426349"/>
            <a:ext cx="692626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5,42 </a:t>
            </a:r>
            <a:pPr algn="l" indent="0" marL="0">
              <a:buNone/>
            </a:pPr>
            <a:r>
              <a:rPr lang="en-US" sz="750" spc="-37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km</a:t>
            </a:r>
            <a:endParaRPr lang="en-US" sz="1350" dirty="0"/>
          </a:p>
        </p:txBody>
      </p:sp>
      <p:sp>
        <p:nvSpPr>
          <p:cNvPr id="70" name="Text 59"/>
          <p:cNvSpPr/>
          <p:nvPr/>
        </p:nvSpPr>
        <p:spPr>
          <a:xfrm>
            <a:off x="12621260" y="11288712"/>
            <a:ext cx="661829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ZEIT</a:t>
            </a:r>
            <a:endParaRPr lang="en-US" sz="675" dirty="0"/>
          </a:p>
        </p:txBody>
      </p:sp>
      <p:sp>
        <p:nvSpPr>
          <p:cNvPr id="71" name="Text 60"/>
          <p:cNvSpPr/>
          <p:nvPr/>
        </p:nvSpPr>
        <p:spPr>
          <a:xfrm>
            <a:off x="12621260" y="11426349"/>
            <a:ext cx="661829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28:14</a:t>
            </a:r>
            <a:endParaRPr lang="en-US" sz="1350" dirty="0"/>
          </a:p>
        </p:txBody>
      </p:sp>
      <p:sp>
        <p:nvSpPr>
          <p:cNvPr id="72" name="Text 61"/>
          <p:cNvSpPr/>
          <p:nvPr/>
        </p:nvSpPr>
        <p:spPr>
          <a:xfrm>
            <a:off x="13366274" y="11288712"/>
            <a:ext cx="544830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PACE</a:t>
            </a:r>
            <a:endParaRPr lang="en-US" sz="675" dirty="0"/>
          </a:p>
        </p:txBody>
      </p:sp>
      <p:sp>
        <p:nvSpPr>
          <p:cNvPr id="73" name="Text 62"/>
          <p:cNvSpPr/>
          <p:nvPr/>
        </p:nvSpPr>
        <p:spPr>
          <a:xfrm>
            <a:off x="13366274" y="11426349"/>
            <a:ext cx="544830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37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5:12</a:t>
            </a:r>
            <a:endParaRPr lang="en-US" sz="1350" dirty="0"/>
          </a:p>
        </p:txBody>
      </p:sp>
      <p:sp>
        <p:nvSpPr>
          <p:cNvPr id="74" name="Text 63"/>
          <p:cNvSpPr/>
          <p:nvPr/>
        </p:nvSpPr>
        <p:spPr>
          <a:xfrm>
            <a:off x="13993971" y="11288712"/>
            <a:ext cx="512921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D+</a:t>
            </a:r>
            <a:endParaRPr lang="en-US" sz="675" dirty="0"/>
          </a:p>
        </p:txBody>
      </p:sp>
      <p:sp>
        <p:nvSpPr>
          <p:cNvPr id="75" name="Text 64"/>
          <p:cNvSpPr/>
          <p:nvPr/>
        </p:nvSpPr>
        <p:spPr>
          <a:xfrm>
            <a:off x="13993971" y="11426349"/>
            <a:ext cx="512921" cy="307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+82 </a:t>
            </a:r>
            <a:pPr algn="l" indent="0" marL="0">
              <a:buNone/>
            </a:pPr>
            <a:r>
              <a:rPr lang="en-US" sz="750" spc="-37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</a:t>
            </a:r>
            <a:endParaRPr lang="en-US" sz="1350" dirty="0"/>
          </a:p>
        </p:txBody>
      </p:sp>
      <p:sp>
        <p:nvSpPr>
          <p:cNvPr id="76" name="Shape 65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7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7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8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84" name="Text 69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87" name="Shape 71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11416"/>
            <a:ext cx="16482060" cy="44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50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43000" y="4419600"/>
            <a:ext cx="16482060" cy="1341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375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Körper.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5989320"/>
            <a:ext cx="882967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Gewicht, Körperfett, Maße. Trends mit Zielen, mehrere Mess-Methoden.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KÖRPER · 01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Gewicht.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Linien-Chart mit Ziel-Linie. Aktueller Wert, 7-Tage-Mittel, BMI. Einträge mit Tages-Delta.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14300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99060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ZIEL-LINIE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33600" y="9831705"/>
            <a:ext cx="60483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3139" y="9894093"/>
            <a:ext cx="44196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7T 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7488" y="1212374"/>
            <a:ext cx="159226" cy="1592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62118" y="1185704"/>
            <a:ext cx="555625" cy="2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657488" y="1512094"/>
            <a:ext cx="363128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KÖRPERGEWICHT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1657488" y="1749107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72,4 kg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5319534" y="1676400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629" y="1801495"/>
            <a:ext cx="204788" cy="2047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1657488" y="2290445"/>
            <a:ext cx="771208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662727" y="2305209"/>
            <a:ext cx="76073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1W</a:t>
            </a:r>
            <a:endParaRPr lang="en-US" sz="825" dirty="0"/>
          </a:p>
        </p:txBody>
      </p:sp>
      <p:sp>
        <p:nvSpPr>
          <p:cNvPr id="21" name="Shape 17"/>
          <p:cNvSpPr/>
          <p:nvPr/>
        </p:nvSpPr>
        <p:spPr>
          <a:xfrm>
            <a:off x="12496958" y="2290445"/>
            <a:ext cx="771525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2502197" y="2305209"/>
            <a:ext cx="76104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1M</a:t>
            </a:r>
            <a:endParaRPr lang="en-US" sz="825" dirty="0"/>
          </a:p>
        </p:txBody>
      </p:sp>
      <p:sp>
        <p:nvSpPr>
          <p:cNvPr id="23" name="Shape 19"/>
          <p:cNvSpPr/>
          <p:nvPr/>
        </p:nvSpPr>
        <p:spPr>
          <a:xfrm>
            <a:off x="13336587" y="2290445"/>
            <a:ext cx="758825" cy="363855"/>
          </a:xfrm>
          <a:prstGeom prst="roundRect">
            <a:avLst>
              <a:gd name="adj" fmla="val 50000"/>
            </a:avLst>
          </a:prstGeom>
          <a:solidFill>
            <a:srgbClr val="F6F6F7"/>
          </a:solidFill>
          <a:ln/>
        </p:spPr>
      </p:sp>
      <p:sp>
        <p:nvSpPr>
          <p:cNvPr id="24" name="Text 20"/>
          <p:cNvSpPr/>
          <p:nvPr/>
        </p:nvSpPr>
        <p:spPr>
          <a:xfrm>
            <a:off x="13336587" y="2299970"/>
            <a:ext cx="758825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3M</a:t>
            </a:r>
            <a:endParaRPr lang="en-US" sz="825" dirty="0"/>
          </a:p>
        </p:txBody>
      </p:sp>
      <p:sp>
        <p:nvSpPr>
          <p:cNvPr id="25" name="Shape 21"/>
          <p:cNvSpPr/>
          <p:nvPr/>
        </p:nvSpPr>
        <p:spPr>
          <a:xfrm>
            <a:off x="14163675" y="2290445"/>
            <a:ext cx="771207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4168914" y="2305209"/>
            <a:ext cx="76073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1J</a:t>
            </a:r>
            <a:endParaRPr lang="en-US" sz="825" dirty="0"/>
          </a:p>
        </p:txBody>
      </p:sp>
      <p:sp>
        <p:nvSpPr>
          <p:cNvPr id="27" name="Shape 23"/>
          <p:cNvSpPr/>
          <p:nvPr/>
        </p:nvSpPr>
        <p:spPr>
          <a:xfrm>
            <a:off x="15003145" y="2290445"/>
            <a:ext cx="771208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5008383" y="2305209"/>
            <a:ext cx="76073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Alles</a:t>
            </a:r>
            <a:endParaRPr lang="en-US" sz="825" dirty="0"/>
          </a:p>
        </p:txBody>
      </p:sp>
      <p:sp>
        <p:nvSpPr>
          <p:cNvPr id="29" name="Shape 25"/>
          <p:cNvSpPr/>
          <p:nvPr/>
        </p:nvSpPr>
        <p:spPr>
          <a:xfrm>
            <a:off x="11657488" y="2813685"/>
            <a:ext cx="4117023" cy="2798286"/>
          </a:xfrm>
          <a:prstGeom prst="roundRect">
            <a:avLst>
              <a:gd name="adj" fmla="val 7489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845607" y="3001804"/>
            <a:ext cx="138636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MONATE · TREND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11845607" y="3238976"/>
            <a:ext cx="749459" cy="425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0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−2,8</a:t>
            </a:r>
            <a:endParaRPr lang="en-US" sz="1950" dirty="0"/>
          </a:p>
        </p:txBody>
      </p:sp>
      <p:sp>
        <p:nvSpPr>
          <p:cNvPr id="32" name="Text 28"/>
          <p:cNvSpPr/>
          <p:nvPr/>
        </p:nvSpPr>
        <p:spPr>
          <a:xfrm>
            <a:off x="12564427" y="3401695"/>
            <a:ext cx="24003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4841220" y="3001804"/>
            <a:ext cx="74485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ZIEL</a:t>
            </a:r>
            <a:endParaRPr lang="en-US" sz="825" dirty="0"/>
          </a:p>
        </p:txBody>
      </p:sp>
      <p:sp>
        <p:nvSpPr>
          <p:cNvPr id="34" name="Text 30"/>
          <p:cNvSpPr/>
          <p:nvPr/>
        </p:nvSpPr>
        <p:spPr>
          <a:xfrm>
            <a:off x="14841220" y="3238976"/>
            <a:ext cx="744855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70,0 kg</a:t>
            </a:r>
            <a:endParaRPr lang="en-US" sz="105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5607" y="3740468"/>
            <a:ext cx="3707606" cy="1683226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1657488" y="5793899"/>
            <a:ext cx="1296511" cy="993457"/>
          </a:xfrm>
          <a:prstGeom prst="roundRect">
            <a:avLst>
              <a:gd name="adj" fmla="val 21093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1822906" y="5959316"/>
            <a:ext cx="104171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0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AKTUELL</a:t>
            </a:r>
            <a:endParaRPr lang="en-US" sz="825" dirty="0"/>
          </a:p>
        </p:txBody>
      </p:sp>
      <p:sp>
        <p:nvSpPr>
          <p:cNvPr id="38" name="Text 33"/>
          <p:cNvSpPr/>
          <p:nvPr/>
        </p:nvSpPr>
        <p:spPr>
          <a:xfrm>
            <a:off x="11822906" y="6196489"/>
            <a:ext cx="795020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72,4</a:t>
            </a:r>
            <a:endParaRPr lang="en-US" sz="2100" dirty="0"/>
          </a:p>
        </p:txBody>
      </p:sp>
      <p:sp>
        <p:nvSpPr>
          <p:cNvPr id="39" name="Text 34"/>
          <p:cNvSpPr/>
          <p:nvPr/>
        </p:nvSpPr>
        <p:spPr>
          <a:xfrm>
            <a:off x="12587129" y="6384131"/>
            <a:ext cx="24003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3067665" y="5793899"/>
            <a:ext cx="1296511" cy="993457"/>
          </a:xfrm>
          <a:prstGeom prst="roundRect">
            <a:avLst>
              <a:gd name="adj" fmla="val 21093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3233241" y="5959316"/>
            <a:ext cx="104171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0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7T Ø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13233241" y="6196489"/>
            <a:ext cx="795020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72,8</a:t>
            </a:r>
            <a:endParaRPr lang="en-US" sz="2100" dirty="0"/>
          </a:p>
        </p:txBody>
      </p:sp>
      <p:sp>
        <p:nvSpPr>
          <p:cNvPr id="43" name="Text 38"/>
          <p:cNvSpPr/>
          <p:nvPr/>
        </p:nvSpPr>
        <p:spPr>
          <a:xfrm>
            <a:off x="13997464" y="6384131"/>
            <a:ext cx="24003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14478000" y="5793899"/>
            <a:ext cx="1296511" cy="993457"/>
          </a:xfrm>
          <a:prstGeom prst="roundRect">
            <a:avLst>
              <a:gd name="adj" fmla="val 21093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4643418" y="5959316"/>
            <a:ext cx="104171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0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BMI</a:t>
            </a:r>
            <a:endParaRPr lang="en-US" sz="825" dirty="0"/>
          </a:p>
        </p:txBody>
      </p:sp>
      <p:sp>
        <p:nvSpPr>
          <p:cNvPr id="46" name="Text 41"/>
          <p:cNvSpPr/>
          <p:nvPr/>
        </p:nvSpPr>
        <p:spPr>
          <a:xfrm>
            <a:off x="14643418" y="6196489"/>
            <a:ext cx="795020" cy="463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75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22,4</a:t>
            </a:r>
            <a:endParaRPr lang="en-US" sz="2100" dirty="0"/>
          </a:p>
        </p:txBody>
      </p:sp>
      <p:sp>
        <p:nvSpPr>
          <p:cNvPr id="47" name="Text 42"/>
          <p:cNvSpPr/>
          <p:nvPr/>
        </p:nvSpPr>
        <p:spPr>
          <a:xfrm>
            <a:off x="11657488" y="6991985"/>
            <a:ext cx="825659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EINTRÄGE</a:t>
            </a:r>
            <a:endParaRPr lang="en-US" sz="975" dirty="0"/>
          </a:p>
        </p:txBody>
      </p:sp>
      <p:sp>
        <p:nvSpPr>
          <p:cNvPr id="48" name="Text 43"/>
          <p:cNvSpPr/>
          <p:nvPr/>
        </p:nvSpPr>
        <p:spPr>
          <a:xfrm>
            <a:off x="15519083" y="6991985"/>
            <a:ext cx="331470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Alle</a:t>
            </a:r>
            <a:endParaRPr lang="en-US" sz="975" dirty="0"/>
          </a:p>
        </p:txBody>
      </p:sp>
      <p:sp>
        <p:nvSpPr>
          <p:cNvPr id="49" name="Shape 44"/>
          <p:cNvSpPr/>
          <p:nvPr/>
        </p:nvSpPr>
        <p:spPr>
          <a:xfrm>
            <a:off x="11657488" y="7840345"/>
            <a:ext cx="411702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11816715" y="7490143"/>
            <a:ext cx="265200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HEUTE · 07:14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4391481" y="7458869"/>
            <a:ext cx="685800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72,4 </a:t>
            </a:r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15038546" y="7490143"/>
            <a:ext cx="57658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−0,2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11657488" y="8431688"/>
            <a:ext cx="411702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4" name="Text 49"/>
          <p:cNvSpPr/>
          <p:nvPr/>
        </p:nvSpPr>
        <p:spPr>
          <a:xfrm>
            <a:off x="11816715" y="8081486"/>
            <a:ext cx="265200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GESTERN · 07:22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14391481" y="8050213"/>
            <a:ext cx="685800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72,6 </a:t>
            </a:r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1200" dirty="0"/>
          </a:p>
        </p:txBody>
      </p:sp>
      <p:sp>
        <p:nvSpPr>
          <p:cNvPr id="56" name="Text 51"/>
          <p:cNvSpPr/>
          <p:nvPr/>
        </p:nvSpPr>
        <p:spPr>
          <a:xfrm>
            <a:off x="15038546" y="8081486"/>
            <a:ext cx="57658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−0,1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11657488" y="9023033"/>
            <a:ext cx="411702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8" name="Text 53"/>
          <p:cNvSpPr/>
          <p:nvPr/>
        </p:nvSpPr>
        <p:spPr>
          <a:xfrm>
            <a:off x="11816715" y="8672989"/>
            <a:ext cx="265200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11. MAI · 07:05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4391481" y="8641715"/>
            <a:ext cx="685800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72,7 </a:t>
            </a:r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1200" dirty="0"/>
          </a:p>
        </p:txBody>
      </p:sp>
      <p:sp>
        <p:nvSpPr>
          <p:cNvPr id="60" name="Text 55"/>
          <p:cNvSpPr/>
          <p:nvPr/>
        </p:nvSpPr>
        <p:spPr>
          <a:xfrm>
            <a:off x="15038546" y="8672989"/>
            <a:ext cx="57658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4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+0,1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11657488" y="9614376"/>
            <a:ext cx="4117023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Text 57"/>
          <p:cNvSpPr/>
          <p:nvPr/>
        </p:nvSpPr>
        <p:spPr>
          <a:xfrm>
            <a:off x="11816715" y="9264332"/>
            <a:ext cx="265200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10. MAI · 07:30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14391481" y="9233059"/>
            <a:ext cx="685800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72,6 </a:t>
            </a:r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</a:t>
            </a:r>
            <a:endParaRPr lang="en-US" sz="1200" dirty="0"/>
          </a:p>
        </p:txBody>
      </p:sp>
      <p:sp>
        <p:nvSpPr>
          <p:cNvPr id="64" name="Text 59"/>
          <p:cNvSpPr/>
          <p:nvPr/>
        </p:nvSpPr>
        <p:spPr>
          <a:xfrm>
            <a:off x="15038546" y="9264332"/>
            <a:ext cx="576580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−0,3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76" name="Shape 66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KÖRPER · 02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Körperfett.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Ring-Indikator, 6-Monats-Verlauf. Mess-Methode wählbar: Caliper · BIA · Bilder-Schätzung.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14300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99060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 METHODEN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33600" y="9831705"/>
            <a:ext cx="151923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3139" y="9894093"/>
            <a:ext cx="135636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6-MONATS TREND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7488" y="1212374"/>
            <a:ext cx="159226" cy="1592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62118" y="1185704"/>
            <a:ext cx="555625" cy="2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657488" y="1512094"/>
            <a:ext cx="363128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KÖRPERFETT · CALIPER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1657488" y="1749107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14,8 %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5319534" y="1676400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629" y="1801495"/>
            <a:ext cx="204788" cy="2047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1657488" y="2290445"/>
            <a:ext cx="4117023" cy="1627505"/>
          </a:xfrm>
          <a:prstGeom prst="roundRect">
            <a:avLst>
              <a:gd name="adj" fmla="val 12876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168" y="2558415"/>
            <a:ext cx="1091724" cy="1091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82317" y="2896711"/>
            <a:ext cx="585629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60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14.8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406313" y="3174206"/>
            <a:ext cx="137636" cy="175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%</a:t>
            </a:r>
            <a:endParaRPr lang="en-US" sz="675" dirty="0"/>
          </a:p>
        </p:txBody>
      </p:sp>
      <p:sp>
        <p:nvSpPr>
          <p:cNvPr id="23" name="Text 18"/>
          <p:cNvSpPr/>
          <p:nvPr/>
        </p:nvSpPr>
        <p:spPr>
          <a:xfrm>
            <a:off x="13187680" y="2524284"/>
            <a:ext cx="242919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LETZTE MESSUNG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13187680" y="2761297"/>
            <a:ext cx="895032" cy="51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90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14,8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14074775" y="2967831"/>
            <a:ext cx="171767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%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3187680" y="3288506"/>
            <a:ext cx="2429192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↓ 1,6% / 3 Mon.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3187680" y="3515360"/>
            <a:ext cx="242919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Athletisch · 18-29J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11657488" y="4099878"/>
            <a:ext cx="4117023" cy="2182971"/>
          </a:xfrm>
          <a:prstGeom prst="roundRect">
            <a:avLst>
              <a:gd name="adj" fmla="val 9599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1845607" y="4288155"/>
            <a:ext cx="15501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VERLAUF · 6 MONATE</a:t>
            </a:r>
            <a:endParaRPr lang="en-US" sz="825" dirty="0"/>
          </a:p>
        </p:txBody>
      </p:sp>
      <p:sp>
        <p:nvSpPr>
          <p:cNvPr id="30" name="Shape 25"/>
          <p:cNvSpPr/>
          <p:nvPr/>
        </p:nvSpPr>
        <p:spPr>
          <a:xfrm>
            <a:off x="14876621" y="4288155"/>
            <a:ext cx="332105" cy="214313"/>
          </a:xfrm>
          <a:prstGeom prst="roundRect">
            <a:avLst>
              <a:gd name="adj" fmla="val 17778"/>
            </a:avLst>
          </a:prstGeom>
          <a:solidFill>
            <a:srgbClr val="1C1C1F"/>
          </a:solidFill>
          <a:ln/>
        </p:spPr>
      </p:sp>
      <p:sp>
        <p:nvSpPr>
          <p:cNvPr id="31" name="Text 26"/>
          <p:cNvSpPr/>
          <p:nvPr/>
        </p:nvSpPr>
        <p:spPr>
          <a:xfrm>
            <a:off x="14952821" y="4307205"/>
            <a:ext cx="2559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6M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15330329" y="4307205"/>
            <a:ext cx="2559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1J</a:t>
            </a:r>
            <a:endParaRPr lang="en-US" sz="825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5607" y="4616291"/>
            <a:ext cx="3707606" cy="147843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884977" y="6464935"/>
            <a:ext cx="826611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METHODE</a:t>
            </a:r>
            <a:endParaRPr lang="en-US" sz="975" dirty="0"/>
          </a:p>
        </p:txBody>
      </p:sp>
      <p:sp>
        <p:nvSpPr>
          <p:cNvPr id="35" name="Shape 29"/>
          <p:cNvSpPr/>
          <p:nvPr/>
        </p:nvSpPr>
        <p:spPr>
          <a:xfrm>
            <a:off x="11657488" y="6795294"/>
            <a:ext cx="4117023" cy="2193290"/>
          </a:xfrm>
          <a:prstGeom prst="roundRect">
            <a:avLst>
              <a:gd name="adj" fmla="val 955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1663680" y="7525226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11845607" y="7117398"/>
            <a:ext cx="90964" cy="90964"/>
          </a:xfrm>
          <a:prstGeom prst="roundRect">
            <a:avLst>
              <a:gd name="adj" fmla="val 41885"/>
            </a:avLst>
          </a:prstGeom>
          <a:solidFill>
            <a:srgbClr val="C8FF3D"/>
          </a:solidFill>
          <a:ln/>
        </p:spPr>
      </p:sp>
      <p:sp>
        <p:nvSpPr>
          <p:cNvPr id="38" name="Text 32"/>
          <p:cNvSpPr/>
          <p:nvPr/>
        </p:nvSpPr>
        <p:spPr>
          <a:xfrm>
            <a:off x="12073096" y="6960711"/>
            <a:ext cx="3028088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Caliper · 4-Punkt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2073096" y="7196138"/>
            <a:ext cx="302808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Heute</a:t>
            </a:r>
            <a:endParaRPr lang="en-US" sz="825" dirty="0"/>
          </a:p>
        </p:txBody>
      </p:sp>
      <p:sp>
        <p:nvSpPr>
          <p:cNvPr id="40" name="Text 34"/>
          <p:cNvSpPr/>
          <p:nvPr/>
        </p:nvSpPr>
        <p:spPr>
          <a:xfrm>
            <a:off x="15012987" y="7056437"/>
            <a:ext cx="649446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14,8 %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11663680" y="8254365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11845607" y="7846377"/>
            <a:ext cx="90964" cy="90964"/>
          </a:xfrm>
          <a:prstGeom prst="roundRect">
            <a:avLst>
              <a:gd name="adj" fmla="val 41885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12073096" y="7689691"/>
            <a:ext cx="3028088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Bioimpedanz (BIA)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12073096" y="7925117"/>
            <a:ext cx="3028088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08. Mai</a:t>
            </a:r>
            <a:endParaRPr lang="en-US" sz="825" dirty="0"/>
          </a:p>
        </p:txBody>
      </p:sp>
      <p:sp>
        <p:nvSpPr>
          <p:cNvPr id="45" name="Text 39"/>
          <p:cNvSpPr/>
          <p:nvPr/>
        </p:nvSpPr>
        <p:spPr>
          <a:xfrm>
            <a:off x="15012987" y="7785418"/>
            <a:ext cx="649446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15,1 %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11845607" y="8575357"/>
            <a:ext cx="90964" cy="90964"/>
          </a:xfrm>
          <a:prstGeom prst="roundRect">
            <a:avLst>
              <a:gd name="adj" fmla="val 41885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12073096" y="8418830"/>
            <a:ext cx="3224794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Bilder-Schätzung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12073096" y="8654256"/>
            <a:ext cx="322479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01. Mai</a:t>
            </a:r>
            <a:endParaRPr lang="en-US" sz="825" dirty="0"/>
          </a:p>
        </p:txBody>
      </p:sp>
      <p:sp>
        <p:nvSpPr>
          <p:cNvPr id="49" name="Text 43"/>
          <p:cNvSpPr/>
          <p:nvPr/>
        </p:nvSpPr>
        <p:spPr>
          <a:xfrm>
            <a:off x="15204123" y="8514556"/>
            <a:ext cx="458311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15 %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61" name="Shape 50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KÖRPER · 03 /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Körpermaße.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mit Tags. Brust · Bizeps · Taille · Hüfte · Schenkel · Wade. Diese-Woche-Übersicht für sekundäre Maße.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131445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116205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 HAUPTMASSE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5050" y="9831705"/>
            <a:ext cx="124491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4589" y="9894093"/>
            <a:ext cx="108204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 SEKUNDÄRE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7488" y="1212374"/>
            <a:ext cx="159226" cy="15922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62118" y="1185704"/>
            <a:ext cx="555625" cy="2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657488" y="1512094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Körpermaße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5319534" y="1439228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629" y="1564323"/>
            <a:ext cx="204788" cy="2047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1657488" y="2053431"/>
            <a:ext cx="4117023" cy="6141402"/>
          </a:xfrm>
          <a:prstGeom prst="roundRect">
            <a:avLst>
              <a:gd name="adj" fmla="val 6478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213" y="2514600"/>
            <a:ext cx="1933416" cy="52314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3938250" y="4152265"/>
            <a:ext cx="1269206" cy="636270"/>
          </a:xfrm>
          <a:prstGeom prst="roundRect">
            <a:avLst>
              <a:gd name="adj" fmla="val 1796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4058265" y="4249420"/>
            <a:ext cx="1105376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BRUST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14058265" y="4428649"/>
            <a:ext cx="627856" cy="300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102,4</a:t>
            </a:r>
            <a:endParaRPr lang="en-US" sz="1275" dirty="0"/>
          </a:p>
        </p:txBody>
      </p:sp>
      <p:sp>
        <p:nvSpPr>
          <p:cNvPr id="23" name="Text 18"/>
          <p:cNvSpPr/>
          <p:nvPr/>
        </p:nvSpPr>
        <p:spPr>
          <a:xfrm>
            <a:off x="14643893" y="4509929"/>
            <a:ext cx="21272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4814550" y="4509929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+0,8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12346146" y="4561681"/>
            <a:ext cx="1250950" cy="636270"/>
          </a:xfrm>
          <a:prstGeom prst="roundRect">
            <a:avLst>
              <a:gd name="adj" fmla="val 1796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2466002" y="4658836"/>
            <a:ext cx="1087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BIZEPS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12466002" y="4838065"/>
            <a:ext cx="517525" cy="300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38,2</a:t>
            </a:r>
            <a:endParaRPr lang="en-US" sz="1275" dirty="0"/>
          </a:p>
        </p:txBody>
      </p:sp>
      <p:sp>
        <p:nvSpPr>
          <p:cNvPr id="28" name="Text 23"/>
          <p:cNvSpPr/>
          <p:nvPr/>
        </p:nvSpPr>
        <p:spPr>
          <a:xfrm>
            <a:off x="12941459" y="4919345"/>
            <a:ext cx="21272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13204189" y="4919345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+0,5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13938250" y="5130324"/>
            <a:ext cx="1250950" cy="636270"/>
          </a:xfrm>
          <a:prstGeom prst="roundRect">
            <a:avLst>
              <a:gd name="adj" fmla="val 1796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4058265" y="5227479"/>
            <a:ext cx="1087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TAILLE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14058265" y="5406707"/>
            <a:ext cx="517525" cy="300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78,5</a:t>
            </a:r>
            <a:endParaRPr lang="en-US" sz="1275" dirty="0"/>
          </a:p>
        </p:txBody>
      </p:sp>
      <p:sp>
        <p:nvSpPr>
          <p:cNvPr id="33" name="Text 28"/>
          <p:cNvSpPr/>
          <p:nvPr/>
        </p:nvSpPr>
        <p:spPr>
          <a:xfrm>
            <a:off x="14533721" y="5487988"/>
            <a:ext cx="21272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14796293" y="5487988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6B4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−1,2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12346146" y="5698966"/>
            <a:ext cx="1250950" cy="636270"/>
          </a:xfrm>
          <a:prstGeom prst="roundRect">
            <a:avLst>
              <a:gd name="adj" fmla="val 1796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2466002" y="5796121"/>
            <a:ext cx="1087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HÜFTE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12466002" y="5975350"/>
            <a:ext cx="517525" cy="300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95,0</a:t>
            </a:r>
            <a:endParaRPr lang="en-US" sz="1275" dirty="0"/>
          </a:p>
        </p:txBody>
      </p:sp>
      <p:sp>
        <p:nvSpPr>
          <p:cNvPr id="38" name="Text 33"/>
          <p:cNvSpPr/>
          <p:nvPr/>
        </p:nvSpPr>
        <p:spPr>
          <a:xfrm>
            <a:off x="12941459" y="6056630"/>
            <a:ext cx="21272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13204189" y="6056630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6B4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−0,4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13938250" y="6381274"/>
            <a:ext cx="1250950" cy="636270"/>
          </a:xfrm>
          <a:prstGeom prst="roundRect">
            <a:avLst>
              <a:gd name="adj" fmla="val 1796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4058265" y="6478588"/>
            <a:ext cx="1087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OBER­SCHENKEL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14058265" y="6657658"/>
            <a:ext cx="517525" cy="300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58,8</a:t>
            </a:r>
            <a:endParaRPr lang="en-US" sz="1275" dirty="0"/>
          </a:p>
        </p:txBody>
      </p:sp>
      <p:sp>
        <p:nvSpPr>
          <p:cNvPr id="43" name="Text 38"/>
          <p:cNvSpPr/>
          <p:nvPr/>
        </p:nvSpPr>
        <p:spPr>
          <a:xfrm>
            <a:off x="14533721" y="6738938"/>
            <a:ext cx="21272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14796293" y="6738938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+0,6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12346146" y="7404894"/>
            <a:ext cx="1250950" cy="636270"/>
          </a:xfrm>
          <a:prstGeom prst="roundRect">
            <a:avLst>
              <a:gd name="adj" fmla="val 17964"/>
            </a:avLst>
          </a:prstGeom>
          <a:solidFill>
            <a:srgbClr val="0B0B0C"/>
          </a:solidFill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2466002" y="7502049"/>
            <a:ext cx="108727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WADE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12466002" y="7681278"/>
            <a:ext cx="517525" cy="300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38,4</a:t>
            </a:r>
            <a:endParaRPr lang="en-US" sz="1275" dirty="0"/>
          </a:p>
        </p:txBody>
      </p:sp>
      <p:sp>
        <p:nvSpPr>
          <p:cNvPr id="48" name="Text 43"/>
          <p:cNvSpPr/>
          <p:nvPr/>
        </p:nvSpPr>
        <p:spPr>
          <a:xfrm>
            <a:off x="12941459" y="7762558"/>
            <a:ext cx="21272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750" dirty="0"/>
          </a:p>
        </p:txBody>
      </p:sp>
      <p:sp>
        <p:nvSpPr>
          <p:cNvPr id="49" name="Text 44"/>
          <p:cNvSpPr/>
          <p:nvPr/>
        </p:nvSpPr>
        <p:spPr>
          <a:xfrm>
            <a:off x="13204189" y="7762558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+0,2</a:t>
            </a:r>
            <a:endParaRPr lang="en-US" sz="75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3680" y="2059623"/>
            <a:ext cx="4104481" cy="6128861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11884977" y="8399462"/>
            <a:ext cx="1143953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DIESE WOCHE</a:t>
            </a:r>
            <a:endParaRPr lang="en-US" sz="975" dirty="0"/>
          </a:p>
        </p:txBody>
      </p:sp>
      <p:sp>
        <p:nvSpPr>
          <p:cNvPr id="52" name="Text 46"/>
          <p:cNvSpPr/>
          <p:nvPr/>
        </p:nvSpPr>
        <p:spPr>
          <a:xfrm>
            <a:off x="15061724" y="8399462"/>
            <a:ext cx="561499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Verlauf</a:t>
            </a:r>
            <a:endParaRPr lang="en-US" sz="975" dirty="0"/>
          </a:p>
        </p:txBody>
      </p:sp>
      <p:sp>
        <p:nvSpPr>
          <p:cNvPr id="53" name="Shape 47"/>
          <p:cNvSpPr/>
          <p:nvPr/>
        </p:nvSpPr>
        <p:spPr>
          <a:xfrm>
            <a:off x="11657488" y="8729821"/>
            <a:ext cx="4117023" cy="1611471"/>
          </a:xfrm>
          <a:prstGeom prst="roundRect">
            <a:avLst>
              <a:gd name="adj" fmla="val 1300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11913870" y="8998744"/>
            <a:ext cx="781367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SCHULTER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11913870" y="9155113"/>
            <a:ext cx="781367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118,2 </a:t>
            </a:r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13279279" y="8986203"/>
            <a:ext cx="37639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+0,4</a:t>
            </a:r>
            <a:endParaRPr lang="en-US" sz="825" dirty="0"/>
          </a:p>
        </p:txBody>
      </p:sp>
      <p:sp>
        <p:nvSpPr>
          <p:cNvPr id="57" name="Text 51"/>
          <p:cNvSpPr/>
          <p:nvPr/>
        </p:nvSpPr>
        <p:spPr>
          <a:xfrm>
            <a:off x="13852366" y="8998744"/>
            <a:ext cx="67675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UNTERARM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13852366" y="9155113"/>
            <a:ext cx="676751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29,8 </a:t>
            </a:r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15217775" y="8986203"/>
            <a:ext cx="37639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+0,1</a:t>
            </a:r>
            <a:endParaRPr lang="en-US" sz="825" dirty="0"/>
          </a:p>
        </p:txBody>
      </p:sp>
      <p:sp>
        <p:nvSpPr>
          <p:cNvPr id="60" name="Text 54"/>
          <p:cNvSpPr/>
          <p:nvPr/>
        </p:nvSpPr>
        <p:spPr>
          <a:xfrm>
            <a:off x="11913870" y="9684544"/>
            <a:ext cx="672147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NACKEN</a:t>
            </a:r>
            <a:endParaRPr lang="en-US" sz="750" dirty="0"/>
          </a:p>
        </p:txBody>
      </p:sp>
      <p:sp>
        <p:nvSpPr>
          <p:cNvPr id="61" name="Text 55"/>
          <p:cNvSpPr/>
          <p:nvPr/>
        </p:nvSpPr>
        <p:spPr>
          <a:xfrm>
            <a:off x="11913870" y="9840912"/>
            <a:ext cx="672147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38,0 </a:t>
            </a:r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1200" dirty="0"/>
          </a:p>
        </p:txBody>
      </p:sp>
      <p:sp>
        <p:nvSpPr>
          <p:cNvPr id="62" name="Text 56"/>
          <p:cNvSpPr/>
          <p:nvPr/>
        </p:nvSpPr>
        <p:spPr>
          <a:xfrm>
            <a:off x="13354208" y="9672003"/>
            <a:ext cx="30130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0,0</a:t>
            </a:r>
            <a:endParaRPr lang="en-US" sz="825" dirty="0"/>
          </a:p>
        </p:txBody>
      </p:sp>
      <p:sp>
        <p:nvSpPr>
          <p:cNvPr id="63" name="Text 57"/>
          <p:cNvSpPr/>
          <p:nvPr/>
        </p:nvSpPr>
        <p:spPr>
          <a:xfrm>
            <a:off x="13852366" y="9684544"/>
            <a:ext cx="672147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KNÖCHEL</a:t>
            </a:r>
            <a:endParaRPr lang="en-US" sz="750" dirty="0"/>
          </a:p>
        </p:txBody>
      </p:sp>
      <p:sp>
        <p:nvSpPr>
          <p:cNvPr id="64" name="Text 58"/>
          <p:cNvSpPr/>
          <p:nvPr/>
        </p:nvSpPr>
        <p:spPr>
          <a:xfrm>
            <a:off x="13852366" y="9840912"/>
            <a:ext cx="672147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22,4 </a:t>
            </a:r>
            <a:pPr algn="l" indent="0" marL="0">
              <a:buNone/>
            </a:pPr>
            <a:r>
              <a:rPr lang="en-US" sz="75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cm</a:t>
            </a:r>
            <a:endParaRPr lang="en-US" sz="1200" dirty="0"/>
          </a:p>
        </p:txBody>
      </p:sp>
      <p:sp>
        <p:nvSpPr>
          <p:cNvPr id="65" name="Text 59"/>
          <p:cNvSpPr/>
          <p:nvPr/>
        </p:nvSpPr>
        <p:spPr>
          <a:xfrm>
            <a:off x="15217775" y="9672003"/>
            <a:ext cx="37639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6B4A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−0,2</a:t>
            </a:r>
            <a:endParaRPr lang="en-US" sz="825" dirty="0"/>
          </a:p>
        </p:txBody>
      </p:sp>
      <p:sp>
        <p:nvSpPr>
          <p:cNvPr id="66" name="Shape 60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6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7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74" name="Text 64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77" name="Shape 66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59906"/>
            <a:ext cx="16482060" cy="44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450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43000" y="3768090"/>
            <a:ext cx="16482060" cy="2644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375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Profil.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6640830"/>
            <a:ext cx="882967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Streak, PRs, Volumen pro Muskelgruppe. Settings, Geräte, Konto.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PROFIL · 01 /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 Streak in Wochen, persönliche Bestleistungen, Volumen pro Muskelgruppe. Ein Hinweis von der App, wenn etwas auffällt.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77724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62484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STREAK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67840" y="9831705"/>
            <a:ext cx="51339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7379" y="9894093"/>
            <a:ext cx="35052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09838" y="9831705"/>
            <a:ext cx="879158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9376" y="9894093"/>
            <a:ext cx="71628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AI NOTE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5" name="Text 13"/>
          <p:cNvSpPr/>
          <p:nvPr/>
        </p:nvSpPr>
        <p:spPr>
          <a:xfrm>
            <a:off x="11657488" y="1185704"/>
            <a:ext cx="363128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14. MAI · DIESE WOCHE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1657488" y="1422718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319534" y="1350010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6059" y="1486376"/>
            <a:ext cx="181928" cy="18192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1657488" y="1964055"/>
            <a:ext cx="968534" cy="363855"/>
          </a:xfrm>
          <a:prstGeom prst="roundRect">
            <a:avLst>
              <a:gd name="adj" fmla="val 50000"/>
            </a:avLst>
          </a:prstGeom>
          <a:solidFill>
            <a:srgbClr val="F6F6F7"/>
          </a:solidFill>
          <a:ln/>
        </p:spPr>
      </p:sp>
      <p:sp>
        <p:nvSpPr>
          <p:cNvPr id="20" name="Text 17"/>
          <p:cNvSpPr/>
          <p:nvPr/>
        </p:nvSpPr>
        <p:spPr>
          <a:xfrm>
            <a:off x="11657488" y="1973580"/>
            <a:ext cx="968534" cy="382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Woche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12694286" y="1964055"/>
            <a:ext cx="981234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699524" y="1978819"/>
            <a:ext cx="970756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Monat</a:t>
            </a:r>
            <a:endParaRPr lang="en-US" sz="825" dirty="0"/>
          </a:p>
        </p:txBody>
      </p:sp>
      <p:sp>
        <p:nvSpPr>
          <p:cNvPr id="23" name="Shape 20"/>
          <p:cNvSpPr/>
          <p:nvPr/>
        </p:nvSpPr>
        <p:spPr>
          <a:xfrm>
            <a:off x="13743781" y="1964055"/>
            <a:ext cx="981075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49020" y="1978819"/>
            <a:ext cx="970598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3M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14793119" y="1964055"/>
            <a:ext cx="981234" cy="36385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798358" y="1978819"/>
            <a:ext cx="970756" cy="37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0" kern="0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Jahr</a:t>
            </a:r>
            <a:endParaRPr lang="en-US" sz="825" dirty="0"/>
          </a:p>
        </p:txBody>
      </p:sp>
      <p:sp>
        <p:nvSpPr>
          <p:cNvPr id="27" name="Shape 24"/>
          <p:cNvSpPr/>
          <p:nvPr/>
        </p:nvSpPr>
        <p:spPr>
          <a:xfrm>
            <a:off x="11657488" y="2487295"/>
            <a:ext cx="4117023" cy="1940242"/>
          </a:xfrm>
          <a:prstGeom prst="roundRect">
            <a:avLst>
              <a:gd name="adj" fmla="val 10800"/>
            </a:avLst>
          </a:prstGeom>
          <a:solidFill>
            <a:srgbClr val="F6F6F7"/>
          </a:solidFill>
          <a:ln/>
        </p:spPr>
      </p:sp>
      <p:sp>
        <p:nvSpPr>
          <p:cNvPr id="28" name="Text 25"/>
          <p:cNvSpPr/>
          <p:nvPr/>
        </p:nvSpPr>
        <p:spPr>
          <a:xfrm>
            <a:off x="11862118" y="2691924"/>
            <a:ext cx="381883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0B0B0C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STREAK · AKTIV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1862118" y="2929096"/>
            <a:ext cx="840423" cy="720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spc="-18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</a:t>
            </a:r>
            <a:endParaRPr lang="en-US" sz="4500" dirty="0"/>
          </a:p>
        </p:txBody>
      </p:sp>
      <p:sp>
        <p:nvSpPr>
          <p:cNvPr id="30" name="Text 27"/>
          <p:cNvSpPr/>
          <p:nvPr/>
        </p:nvSpPr>
        <p:spPr>
          <a:xfrm>
            <a:off x="12717462" y="3348514"/>
            <a:ext cx="649446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C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Wochen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1862118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2174855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2487752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2800488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3113226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3425964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3738701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4051439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4364177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4676913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4989651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5302389" y="3793490"/>
            <a:ext cx="267335" cy="204788"/>
          </a:xfrm>
          <a:prstGeom prst="roundRect">
            <a:avLst>
              <a:gd name="adj" fmla="val 13953"/>
            </a:avLst>
          </a:prstGeom>
          <a:solidFill>
            <a:srgbClr val="C8FF3D"/>
          </a:solidFill>
          <a:ln/>
        </p:spPr>
      </p:sp>
      <p:sp>
        <p:nvSpPr>
          <p:cNvPr id="43" name="Text 40"/>
          <p:cNvSpPr/>
          <p:nvPr/>
        </p:nvSpPr>
        <p:spPr>
          <a:xfrm>
            <a:off x="11862118" y="4066381"/>
            <a:ext cx="3490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KW 8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15228570" y="4066381"/>
            <a:ext cx="41735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KW 20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11884977" y="4563904"/>
            <a:ext cx="2536349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8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PERSÖNLICHE BESTLEISTUNGEN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11657488" y="4939824"/>
            <a:ext cx="4117023" cy="735330"/>
          </a:xfrm>
          <a:prstGeom prst="roundRect">
            <a:avLst>
              <a:gd name="adj" fmla="val 1813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845607" y="5125402"/>
            <a:ext cx="363855" cy="363855"/>
          </a:xfrm>
          <a:prstGeom prst="roundRect">
            <a:avLst>
              <a:gd name="adj" fmla="val 20942"/>
            </a:avLst>
          </a:prstGeom>
          <a:solidFill>
            <a:srgbClr val="C8FF3D"/>
          </a:solidFill>
          <a:ln/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730" y="5216366"/>
            <a:ext cx="181928" cy="181928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12346146" y="5105241"/>
            <a:ext cx="2775134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Bankdrücken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12346146" y="5340668"/>
            <a:ext cx="277513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5×5 · neu</a:t>
            </a:r>
            <a:endParaRPr lang="en-US" sz="825" dirty="0"/>
          </a:p>
        </p:txBody>
      </p:sp>
      <p:sp>
        <p:nvSpPr>
          <p:cNvPr id="51" name="Text 47"/>
          <p:cNvSpPr/>
          <p:nvPr/>
        </p:nvSpPr>
        <p:spPr>
          <a:xfrm>
            <a:off x="15040292" y="5185410"/>
            <a:ext cx="622141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90 kg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11657488" y="5766118"/>
            <a:ext cx="4117023" cy="735330"/>
          </a:xfrm>
          <a:prstGeom prst="roundRect">
            <a:avLst>
              <a:gd name="adj" fmla="val 1813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1845607" y="5951537"/>
            <a:ext cx="363855" cy="363855"/>
          </a:xfrm>
          <a:prstGeom prst="roundRect">
            <a:avLst>
              <a:gd name="adj" fmla="val 20942"/>
            </a:avLst>
          </a:prstGeom>
          <a:solidFill>
            <a:srgbClr val="1C1C1F"/>
          </a:solidFill>
          <a:ln/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730" y="6042660"/>
            <a:ext cx="181928" cy="18192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12346146" y="5931535"/>
            <a:ext cx="2775134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5K Lauf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12346146" y="6166961"/>
            <a:ext cx="2775134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−18s</a:t>
            </a:r>
            <a:endParaRPr lang="en-US" sz="825" dirty="0"/>
          </a:p>
        </p:txBody>
      </p:sp>
      <p:sp>
        <p:nvSpPr>
          <p:cNvPr id="57" name="Text 52"/>
          <p:cNvSpPr/>
          <p:nvPr/>
        </p:nvSpPr>
        <p:spPr>
          <a:xfrm>
            <a:off x="15040292" y="6011704"/>
            <a:ext cx="622141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24:42</a:t>
            </a:r>
            <a:endParaRPr lang="en-US" sz="1200" dirty="0"/>
          </a:p>
        </p:txBody>
      </p:sp>
      <p:sp>
        <p:nvSpPr>
          <p:cNvPr id="58" name="Shape 53"/>
          <p:cNvSpPr/>
          <p:nvPr/>
        </p:nvSpPr>
        <p:spPr>
          <a:xfrm>
            <a:off x="11657488" y="6592252"/>
            <a:ext cx="4117023" cy="735330"/>
          </a:xfrm>
          <a:prstGeom prst="roundRect">
            <a:avLst>
              <a:gd name="adj" fmla="val 18135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1845607" y="6777831"/>
            <a:ext cx="363855" cy="363855"/>
          </a:xfrm>
          <a:prstGeom prst="roundRect">
            <a:avLst>
              <a:gd name="adj" fmla="val 20942"/>
            </a:avLst>
          </a:prstGeom>
          <a:solidFill>
            <a:srgbClr val="1C1C1F"/>
          </a:solidFill>
          <a:ln/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6730" y="6868795"/>
            <a:ext cx="181928" cy="1819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2346146" y="6757829"/>
            <a:ext cx="2662637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Deadlift</a:t>
            </a:r>
            <a:endParaRPr lang="en-US" sz="1050" dirty="0"/>
          </a:p>
        </p:txBody>
      </p:sp>
      <p:sp>
        <p:nvSpPr>
          <p:cNvPr id="62" name="Text 56"/>
          <p:cNvSpPr/>
          <p:nvPr/>
        </p:nvSpPr>
        <p:spPr>
          <a:xfrm>
            <a:off x="12346146" y="6993255"/>
            <a:ext cx="2662637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1RM-Schätz.</a:t>
            </a:r>
            <a:endParaRPr lang="en-US" sz="825" dirty="0"/>
          </a:p>
        </p:txBody>
      </p:sp>
      <p:sp>
        <p:nvSpPr>
          <p:cNvPr id="63" name="Text 57"/>
          <p:cNvSpPr/>
          <p:nvPr/>
        </p:nvSpPr>
        <p:spPr>
          <a:xfrm>
            <a:off x="14931072" y="6837998"/>
            <a:ext cx="731202" cy="28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140 kg</a:t>
            </a:r>
            <a:endParaRPr lang="en-US" sz="1200" dirty="0"/>
          </a:p>
        </p:txBody>
      </p:sp>
      <p:sp>
        <p:nvSpPr>
          <p:cNvPr id="64" name="Shape 58"/>
          <p:cNvSpPr/>
          <p:nvPr/>
        </p:nvSpPr>
        <p:spPr>
          <a:xfrm>
            <a:off x="11657488" y="7532211"/>
            <a:ext cx="4117023" cy="2572544"/>
          </a:xfrm>
          <a:prstGeom prst="roundRect">
            <a:avLst>
              <a:gd name="adj" fmla="val 8146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11845607" y="7720489"/>
            <a:ext cx="187769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45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VOLUMEN / MUSKELGRUPPE</a:t>
            </a:r>
            <a:endParaRPr lang="en-US" sz="825" dirty="0"/>
          </a:p>
        </p:txBody>
      </p:sp>
      <p:sp>
        <p:nvSpPr>
          <p:cNvPr id="66" name="Text 60"/>
          <p:cNvSpPr/>
          <p:nvPr/>
        </p:nvSpPr>
        <p:spPr>
          <a:xfrm>
            <a:off x="14910593" y="7720489"/>
            <a:ext cx="751681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 · KW20</a:t>
            </a:r>
            <a:endParaRPr lang="en-US" sz="825" dirty="0"/>
          </a:p>
        </p:txBody>
      </p:sp>
      <p:sp>
        <p:nvSpPr>
          <p:cNvPr id="67" name="Text 61"/>
          <p:cNvSpPr/>
          <p:nvPr/>
        </p:nvSpPr>
        <p:spPr>
          <a:xfrm>
            <a:off x="11845607" y="8048625"/>
            <a:ext cx="385921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Brust</a:t>
            </a:r>
            <a:endParaRPr lang="en-US" sz="825" dirty="0"/>
          </a:p>
        </p:txBody>
      </p:sp>
      <p:sp>
        <p:nvSpPr>
          <p:cNvPr id="68" name="Text 62"/>
          <p:cNvSpPr/>
          <p:nvPr/>
        </p:nvSpPr>
        <p:spPr>
          <a:xfrm>
            <a:off x="15210948" y="8048625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4.820</a:t>
            </a:r>
            <a:endParaRPr lang="en-US" sz="825" dirty="0"/>
          </a:p>
        </p:txBody>
      </p:sp>
      <p:sp>
        <p:nvSpPr>
          <p:cNvPr id="69" name="Shape 63"/>
          <p:cNvSpPr/>
          <p:nvPr/>
        </p:nvSpPr>
        <p:spPr>
          <a:xfrm>
            <a:off x="11845607" y="8262938"/>
            <a:ext cx="3740468" cy="68263"/>
          </a:xfrm>
          <a:prstGeom prst="roundRect">
            <a:avLst>
              <a:gd name="adj" fmla="val 41860"/>
            </a:avLst>
          </a:prstGeom>
          <a:solidFill>
            <a:srgbClr val="1C1C1F"/>
          </a:solidFill>
          <a:ln/>
        </p:spPr>
      </p:sp>
      <p:sp>
        <p:nvSpPr>
          <p:cNvPr id="70" name="Shape 64"/>
          <p:cNvSpPr/>
          <p:nvPr/>
        </p:nvSpPr>
        <p:spPr>
          <a:xfrm>
            <a:off x="11845607" y="8262938"/>
            <a:ext cx="3590766" cy="68263"/>
          </a:xfrm>
          <a:prstGeom prst="roundRect">
            <a:avLst>
              <a:gd name="adj" fmla="val 41860"/>
            </a:avLst>
          </a:prstGeom>
          <a:solidFill>
            <a:srgbClr val="C8FF3D"/>
          </a:solidFill>
          <a:ln/>
        </p:spPr>
      </p:sp>
      <p:sp>
        <p:nvSpPr>
          <p:cNvPr id="71" name="Text 65"/>
          <p:cNvSpPr/>
          <p:nvPr/>
        </p:nvSpPr>
        <p:spPr>
          <a:xfrm>
            <a:off x="11845607" y="8444865"/>
            <a:ext cx="505936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Rücken</a:t>
            </a:r>
            <a:endParaRPr lang="en-US" sz="825" dirty="0"/>
          </a:p>
        </p:txBody>
      </p:sp>
      <p:sp>
        <p:nvSpPr>
          <p:cNvPr id="72" name="Text 66"/>
          <p:cNvSpPr/>
          <p:nvPr/>
        </p:nvSpPr>
        <p:spPr>
          <a:xfrm>
            <a:off x="15210948" y="8444865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5.240</a:t>
            </a:r>
            <a:endParaRPr lang="en-US" sz="825" dirty="0"/>
          </a:p>
        </p:txBody>
      </p:sp>
      <p:sp>
        <p:nvSpPr>
          <p:cNvPr id="73" name="Shape 67"/>
          <p:cNvSpPr/>
          <p:nvPr/>
        </p:nvSpPr>
        <p:spPr>
          <a:xfrm>
            <a:off x="11845607" y="8659337"/>
            <a:ext cx="3740468" cy="68263"/>
          </a:xfrm>
          <a:prstGeom prst="roundRect">
            <a:avLst>
              <a:gd name="adj" fmla="val 41860"/>
            </a:avLst>
          </a:prstGeom>
          <a:solidFill>
            <a:srgbClr val="1C1C1F"/>
          </a:solidFill>
          <a:ln/>
        </p:spPr>
      </p:sp>
      <p:sp>
        <p:nvSpPr>
          <p:cNvPr id="74" name="Shape 68"/>
          <p:cNvSpPr/>
          <p:nvPr/>
        </p:nvSpPr>
        <p:spPr>
          <a:xfrm>
            <a:off x="11845607" y="8659337"/>
            <a:ext cx="3553460" cy="68263"/>
          </a:xfrm>
          <a:prstGeom prst="roundRect">
            <a:avLst>
              <a:gd name="adj" fmla="val 41860"/>
            </a:avLst>
          </a:prstGeom>
          <a:solidFill>
            <a:srgbClr val="C8FF3D"/>
          </a:solidFill>
          <a:ln/>
        </p:spPr>
      </p:sp>
      <p:sp>
        <p:nvSpPr>
          <p:cNvPr id="75" name="Text 69"/>
          <p:cNvSpPr/>
          <p:nvPr/>
        </p:nvSpPr>
        <p:spPr>
          <a:xfrm>
            <a:off x="11845607" y="8841264"/>
            <a:ext cx="402590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Beine</a:t>
            </a:r>
            <a:endParaRPr lang="en-US" sz="825" dirty="0"/>
          </a:p>
        </p:txBody>
      </p:sp>
      <p:sp>
        <p:nvSpPr>
          <p:cNvPr id="76" name="Text 70"/>
          <p:cNvSpPr/>
          <p:nvPr/>
        </p:nvSpPr>
        <p:spPr>
          <a:xfrm>
            <a:off x="15210948" y="8841264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6.120</a:t>
            </a:r>
            <a:endParaRPr lang="en-US" sz="825" dirty="0"/>
          </a:p>
        </p:txBody>
      </p:sp>
      <p:sp>
        <p:nvSpPr>
          <p:cNvPr id="77" name="Shape 71"/>
          <p:cNvSpPr/>
          <p:nvPr/>
        </p:nvSpPr>
        <p:spPr>
          <a:xfrm>
            <a:off x="11845607" y="9055576"/>
            <a:ext cx="3740468" cy="68263"/>
          </a:xfrm>
          <a:prstGeom prst="roundRect">
            <a:avLst>
              <a:gd name="adj" fmla="val 41860"/>
            </a:avLst>
          </a:prstGeom>
          <a:solidFill>
            <a:srgbClr val="1C1C1F"/>
          </a:solidFill>
          <a:ln/>
        </p:spPr>
      </p:sp>
      <p:sp>
        <p:nvSpPr>
          <p:cNvPr id="78" name="Shape 72"/>
          <p:cNvSpPr/>
          <p:nvPr/>
        </p:nvSpPr>
        <p:spPr>
          <a:xfrm>
            <a:off x="11845607" y="9055576"/>
            <a:ext cx="3515995" cy="68263"/>
          </a:xfrm>
          <a:prstGeom prst="roundRect">
            <a:avLst>
              <a:gd name="adj" fmla="val 41860"/>
            </a:avLst>
          </a:prstGeom>
          <a:solidFill>
            <a:srgbClr val="C8FF3D"/>
          </a:solidFill>
          <a:ln/>
        </p:spPr>
      </p:sp>
      <p:sp>
        <p:nvSpPr>
          <p:cNvPr id="79" name="Text 73"/>
          <p:cNvSpPr/>
          <p:nvPr/>
        </p:nvSpPr>
        <p:spPr>
          <a:xfrm>
            <a:off x="11845607" y="9237662"/>
            <a:ext cx="626269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Schultern</a:t>
            </a:r>
            <a:endParaRPr lang="en-US" sz="825" dirty="0"/>
          </a:p>
        </p:txBody>
      </p:sp>
      <p:sp>
        <p:nvSpPr>
          <p:cNvPr id="80" name="Text 74"/>
          <p:cNvSpPr/>
          <p:nvPr/>
        </p:nvSpPr>
        <p:spPr>
          <a:xfrm>
            <a:off x="15210948" y="9237662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1.640</a:t>
            </a:r>
            <a:endParaRPr lang="en-US" sz="825" dirty="0"/>
          </a:p>
        </p:txBody>
      </p:sp>
      <p:sp>
        <p:nvSpPr>
          <p:cNvPr id="81" name="Shape 75"/>
          <p:cNvSpPr/>
          <p:nvPr/>
        </p:nvSpPr>
        <p:spPr>
          <a:xfrm>
            <a:off x="11845607" y="9451975"/>
            <a:ext cx="3740468" cy="68263"/>
          </a:xfrm>
          <a:prstGeom prst="roundRect">
            <a:avLst>
              <a:gd name="adj" fmla="val 41860"/>
            </a:avLst>
          </a:prstGeom>
          <a:solidFill>
            <a:srgbClr val="1C1C1F"/>
          </a:solidFill>
          <a:ln/>
        </p:spPr>
      </p:sp>
      <p:sp>
        <p:nvSpPr>
          <p:cNvPr id="82" name="Shape 76"/>
          <p:cNvSpPr/>
          <p:nvPr/>
        </p:nvSpPr>
        <p:spPr>
          <a:xfrm>
            <a:off x="11845607" y="9451975"/>
            <a:ext cx="2767965" cy="68263"/>
          </a:xfrm>
          <a:prstGeom prst="roundRect">
            <a:avLst>
              <a:gd name="adj" fmla="val 41860"/>
            </a:avLst>
          </a:prstGeom>
          <a:solidFill>
            <a:srgbClr val="F6F6F7"/>
          </a:solidFill>
          <a:ln/>
        </p:spPr>
      </p:sp>
      <p:sp>
        <p:nvSpPr>
          <p:cNvPr id="83" name="Text 77"/>
          <p:cNvSpPr/>
          <p:nvPr/>
        </p:nvSpPr>
        <p:spPr>
          <a:xfrm>
            <a:off x="11845607" y="9633903"/>
            <a:ext cx="378142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B8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Arme</a:t>
            </a:r>
            <a:endParaRPr lang="en-US" sz="825" dirty="0"/>
          </a:p>
        </p:txBody>
      </p:sp>
      <p:sp>
        <p:nvSpPr>
          <p:cNvPr id="84" name="Text 78"/>
          <p:cNvSpPr/>
          <p:nvPr/>
        </p:nvSpPr>
        <p:spPr>
          <a:xfrm>
            <a:off x="15210948" y="9633903"/>
            <a:ext cx="451485" cy="207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1.340</a:t>
            </a:r>
            <a:endParaRPr lang="en-US" sz="825" dirty="0"/>
          </a:p>
        </p:txBody>
      </p:sp>
      <p:sp>
        <p:nvSpPr>
          <p:cNvPr id="85" name="Shape 79"/>
          <p:cNvSpPr/>
          <p:nvPr/>
        </p:nvSpPr>
        <p:spPr>
          <a:xfrm>
            <a:off x="11845607" y="9848373"/>
            <a:ext cx="3740468" cy="68263"/>
          </a:xfrm>
          <a:prstGeom prst="roundRect">
            <a:avLst>
              <a:gd name="adj" fmla="val 41860"/>
            </a:avLst>
          </a:prstGeom>
          <a:solidFill>
            <a:srgbClr val="1C1C1F"/>
          </a:solidFill>
          <a:ln/>
        </p:spPr>
      </p:sp>
      <p:sp>
        <p:nvSpPr>
          <p:cNvPr id="86" name="Shape 80"/>
          <p:cNvSpPr/>
          <p:nvPr/>
        </p:nvSpPr>
        <p:spPr>
          <a:xfrm>
            <a:off x="11845607" y="9848373"/>
            <a:ext cx="2767965" cy="68263"/>
          </a:xfrm>
          <a:prstGeom prst="roundRect">
            <a:avLst>
              <a:gd name="adj" fmla="val 41860"/>
            </a:avLst>
          </a:prstGeom>
          <a:solidFill>
            <a:srgbClr val="F6F6F7"/>
          </a:solidFill>
          <a:ln/>
        </p:spPr>
      </p:sp>
      <p:sp>
        <p:nvSpPr>
          <p:cNvPr id="87" name="Shape 81"/>
          <p:cNvSpPr/>
          <p:nvPr/>
        </p:nvSpPr>
        <p:spPr>
          <a:xfrm>
            <a:off x="11657488" y="10241280"/>
            <a:ext cx="4117023" cy="1095851"/>
          </a:xfrm>
          <a:prstGeom prst="roundRect">
            <a:avLst>
              <a:gd name="adj" fmla="val 19122"/>
            </a:avLst>
          </a:prstGeom>
          <a:solidFill>
            <a:srgbClr val="161618"/>
          </a:solidFill>
          <a:ln w="5239">
            <a:solidFill>
              <a:srgbClr val="C8FF3D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>
            <a:off x="11845607" y="10473532"/>
            <a:ext cx="68263" cy="68263"/>
          </a:xfrm>
          <a:prstGeom prst="roundRect">
            <a:avLst>
              <a:gd name="adj" fmla="val 41860"/>
            </a:avLst>
          </a:prstGeom>
          <a:solidFill>
            <a:srgbClr val="C8FF3D"/>
          </a:solidFill>
          <a:ln/>
        </p:spPr>
      </p:sp>
      <p:sp>
        <p:nvSpPr>
          <p:cNvPr id="89" name="Text 83"/>
          <p:cNvSpPr/>
          <p:nvPr/>
        </p:nvSpPr>
        <p:spPr>
          <a:xfrm>
            <a:off x="12004834" y="10429558"/>
            <a:ext cx="95186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C8FF3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BEOBACHTUNG</a:t>
            </a:r>
            <a:endParaRPr lang="en-US" sz="750" dirty="0"/>
          </a:p>
        </p:txBody>
      </p:sp>
      <p:sp>
        <p:nvSpPr>
          <p:cNvPr id="90" name="Text 84"/>
          <p:cNvSpPr/>
          <p:nvPr/>
        </p:nvSpPr>
        <p:spPr>
          <a:xfrm>
            <a:off x="11845607" y="10654030"/>
            <a:ext cx="3852682" cy="532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Dein Volumen für Schultern ist 3 Wochen flach. Pack einen Zusatzsatz auf Seitheben drauf?</a:t>
            </a:r>
            <a:endParaRPr lang="en-US" sz="1125" dirty="0"/>
          </a:p>
        </p:txBody>
      </p:sp>
      <p:sp>
        <p:nvSpPr>
          <p:cNvPr id="91" name="Shape 85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9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93" name="Text 86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9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95" name="Text 87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9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97" name="Text 88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9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99" name="Text 89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10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101" name="Text 90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102" name="Shape 91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14400"/>
            <a:ext cx="7848600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PROFIL · 02 /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347311"/>
            <a:ext cx="7848600" cy="90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62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2000" y="2482691"/>
            <a:ext cx="5297805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User-Karte mit Lifetime-Stats. Settings in drei Gruppen: Persönlich · App · Konto. Pro-Badge sichtbar.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2000" y="9836944"/>
            <a:ext cx="502920" cy="292417"/>
          </a:xfrm>
          <a:prstGeom prst="roundRect">
            <a:avLst>
              <a:gd name="adj" fmla="val 50000"/>
            </a:avLst>
          </a:prstGeom>
          <a:solidFill>
            <a:srgbClr val="C8FF3D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9894094"/>
            <a:ext cx="35052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93520" y="9831705"/>
            <a:ext cx="970597" cy="302895"/>
          </a:xfrm>
          <a:prstGeom prst="roundRect">
            <a:avLst>
              <a:gd name="adj" fmla="val 50000"/>
            </a:avLst>
          </a:prstGeom>
          <a:ln w="5239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3059" y="9894093"/>
            <a:ext cx="807720" cy="21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9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SETTINGS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ln/>
          <a:effectLst>
            <a:outerShdw sx="100000" sy="100000" kx="0" ky="0" algn="bl" rotWithShape="0" blurRad="952500" dist="5715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0" y="571500"/>
            <a:ext cx="4572000" cy="9906000"/>
          </a:xfrm>
          <a:prstGeom prst="roundRect">
            <a:avLst>
              <a:gd name="adj" fmla="val 12083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001625" y="695325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571500"/>
            <a:ext cx="4571841" cy="9905683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3" name="Text 11"/>
          <p:cNvSpPr/>
          <p:nvPr/>
        </p:nvSpPr>
        <p:spPr>
          <a:xfrm>
            <a:off x="11657488" y="1258411"/>
            <a:ext cx="3631286" cy="420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5319534" y="1185704"/>
            <a:ext cx="454977" cy="454977"/>
          </a:xfrm>
          <a:prstGeom prst="roundRect">
            <a:avLst>
              <a:gd name="adj" fmla="val 41870"/>
            </a:avLst>
          </a:prstGeom>
          <a:solidFill>
            <a:srgbClr val="1C1C1F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4629" y="1310799"/>
            <a:ext cx="204788" cy="20478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1657488" y="1799749"/>
            <a:ext cx="4117023" cy="2049621"/>
          </a:xfrm>
          <a:prstGeom prst="roundRect">
            <a:avLst>
              <a:gd name="adj" fmla="val 1022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68467" y="2047081"/>
            <a:ext cx="727869" cy="727869"/>
          </a:xfrm>
          <a:prstGeom prst="roundRect">
            <a:avLst>
              <a:gd name="adj" fmla="val 41876"/>
            </a:avLst>
          </a:prstGeom>
          <a:solidFill>
            <a:srgbClr val="F6F6F7"/>
          </a:solidFill>
          <a:ln/>
        </p:spPr>
      </p:sp>
      <p:sp>
        <p:nvSpPr>
          <p:cNvPr id="18" name="Text 15"/>
          <p:cNvSpPr/>
          <p:nvPr/>
        </p:nvSpPr>
        <p:spPr>
          <a:xfrm>
            <a:off x="12076906" y="2245201"/>
            <a:ext cx="38703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0B0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LB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2755562" y="2010728"/>
            <a:ext cx="2892209" cy="307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30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Lena Brunner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2755562" y="2302510"/>
            <a:ext cx="2892209" cy="21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lena@trackify.app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2755562" y="2574766"/>
            <a:ext cx="611822" cy="224631"/>
          </a:xfrm>
          <a:prstGeom prst="roundRect">
            <a:avLst>
              <a:gd name="adj" fmla="val 16961"/>
            </a:avLst>
          </a:prstGeom>
          <a:solidFill>
            <a:srgbClr val="C8FF3D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526" y="2618740"/>
            <a:ext cx="136525" cy="1365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051155" y="2608897"/>
            <a:ext cx="301307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0B0B0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11868467" y="2993549"/>
            <a:ext cx="369506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1830367" y="3158966"/>
            <a:ext cx="1307941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1830367" y="3482022"/>
            <a:ext cx="130794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WORKOUTS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13100050" y="3158966"/>
            <a:ext cx="9525" cy="4794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3068300" y="3158966"/>
            <a:ext cx="1301591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32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3068300" y="3482022"/>
            <a:ext cx="13015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LÄUFE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14331791" y="3158966"/>
            <a:ext cx="9525" cy="4794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14299883" y="3158966"/>
            <a:ext cx="1301591" cy="33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-37" kern="0" dirty="0">
                <a:solidFill>
                  <a:srgbClr val="F6F6F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12W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14299883" y="3482022"/>
            <a:ext cx="1301591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STREAK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695588" y="4031298"/>
            <a:ext cx="4164333" cy="221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PERSÖNLICH</a:t>
            </a:r>
            <a:endParaRPr lang="en-US" sz="825" dirty="0"/>
          </a:p>
        </p:txBody>
      </p:sp>
      <p:sp>
        <p:nvSpPr>
          <p:cNvPr id="34" name="Shape 30"/>
          <p:cNvSpPr/>
          <p:nvPr/>
        </p:nvSpPr>
        <p:spPr>
          <a:xfrm>
            <a:off x="11657488" y="4291171"/>
            <a:ext cx="4117023" cy="1712119"/>
          </a:xfrm>
          <a:prstGeom prst="roundRect">
            <a:avLst>
              <a:gd name="adj" fmla="val 1001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663680" y="4860766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11845607" y="4472146"/>
            <a:ext cx="2536190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Ziele &amp; Plan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14305598" y="4481671"/>
            <a:ext cx="1140778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Muskelaufbau</a:t>
            </a:r>
            <a:endParaRPr lang="en-US" sz="975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8438" y="4496435"/>
            <a:ext cx="147796" cy="147796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11663680" y="5429409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11845607" y="5040789"/>
            <a:ext cx="2536190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Einheiten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14305598" y="5050314"/>
            <a:ext cx="1140778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kg · km · cm</a:t>
            </a:r>
            <a:endParaRPr lang="en-US" sz="975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8438" y="5065077"/>
            <a:ext cx="147796" cy="14779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1845607" y="5609431"/>
            <a:ext cx="2625193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Verbundene Geräte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14394339" y="5618956"/>
            <a:ext cx="1052036" cy="231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8B8B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Apple Watch</a:t>
            </a:r>
            <a:endParaRPr lang="en-US" sz="975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8438" y="5633720"/>
            <a:ext cx="147796" cy="147796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1695588" y="6162516"/>
            <a:ext cx="4164333" cy="221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APP</a:t>
            </a:r>
            <a:endParaRPr lang="en-US" sz="825" dirty="0"/>
          </a:p>
        </p:txBody>
      </p:sp>
      <p:sp>
        <p:nvSpPr>
          <p:cNvPr id="47" name="Shape 40"/>
          <p:cNvSpPr/>
          <p:nvPr/>
        </p:nvSpPr>
        <p:spPr>
          <a:xfrm>
            <a:off x="11657488" y="6422390"/>
            <a:ext cx="4117023" cy="1799114"/>
          </a:xfrm>
          <a:prstGeom prst="roundRect">
            <a:avLst>
              <a:gd name="adj" fmla="val 9530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1663680" y="7021195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9" name="Text 42"/>
          <p:cNvSpPr/>
          <p:nvPr/>
        </p:nvSpPr>
        <p:spPr>
          <a:xfrm>
            <a:off x="11845607" y="6618129"/>
            <a:ext cx="3384218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Erscheinungsbild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15131257" y="6587966"/>
            <a:ext cx="454978" cy="272891"/>
          </a:xfrm>
          <a:prstGeom prst="roundRect">
            <a:avLst>
              <a:gd name="adj" fmla="val 41885"/>
            </a:avLst>
          </a:prstGeom>
          <a:solidFill>
            <a:srgbClr val="1C1C1F"/>
          </a:solidFill>
          <a:ln/>
        </p:spPr>
      </p:sp>
      <p:sp>
        <p:nvSpPr>
          <p:cNvPr id="51" name="Shape 44"/>
          <p:cNvSpPr/>
          <p:nvPr/>
        </p:nvSpPr>
        <p:spPr>
          <a:xfrm>
            <a:off x="15154117" y="6610667"/>
            <a:ext cx="227489" cy="227489"/>
          </a:xfrm>
          <a:prstGeom prst="roundRect">
            <a:avLst>
              <a:gd name="adj" fmla="val 41870"/>
            </a:avLst>
          </a:prstGeom>
          <a:solidFill>
            <a:srgbClr val="0B0B0C"/>
          </a:solidFill>
          <a:ln/>
        </p:spPr>
      </p:sp>
      <p:sp>
        <p:nvSpPr>
          <p:cNvPr id="52" name="Shape 45"/>
          <p:cNvSpPr/>
          <p:nvPr/>
        </p:nvSpPr>
        <p:spPr>
          <a:xfrm>
            <a:off x="11663680" y="7618730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3" name="Text 46"/>
          <p:cNvSpPr/>
          <p:nvPr/>
        </p:nvSpPr>
        <p:spPr>
          <a:xfrm>
            <a:off x="11845607" y="7215664"/>
            <a:ext cx="3384218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Erinnerungen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15131257" y="7185501"/>
            <a:ext cx="454978" cy="272891"/>
          </a:xfrm>
          <a:prstGeom prst="roundRect">
            <a:avLst>
              <a:gd name="adj" fmla="val 41885"/>
            </a:avLst>
          </a:prstGeom>
          <a:solidFill>
            <a:srgbClr val="C8FF3D"/>
          </a:solidFill>
          <a:ln/>
        </p:spPr>
      </p:sp>
      <p:sp>
        <p:nvSpPr>
          <p:cNvPr id="55" name="Shape 48"/>
          <p:cNvSpPr/>
          <p:nvPr/>
        </p:nvSpPr>
        <p:spPr>
          <a:xfrm>
            <a:off x="15336044" y="7208361"/>
            <a:ext cx="227489" cy="227489"/>
          </a:xfrm>
          <a:prstGeom prst="roundRect">
            <a:avLst>
              <a:gd name="adj" fmla="val 41870"/>
            </a:avLst>
          </a:prstGeom>
          <a:solidFill>
            <a:srgbClr val="0B0B0C"/>
          </a:solidFill>
          <a:ln/>
        </p:spPr>
      </p:sp>
      <p:sp>
        <p:nvSpPr>
          <p:cNvPr id="56" name="Text 49"/>
          <p:cNvSpPr/>
          <p:nvPr/>
        </p:nvSpPr>
        <p:spPr>
          <a:xfrm>
            <a:off x="11845607" y="7813357"/>
            <a:ext cx="3384218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Live-Aktivitäten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15131257" y="7783195"/>
            <a:ext cx="454978" cy="272891"/>
          </a:xfrm>
          <a:prstGeom prst="roundRect">
            <a:avLst>
              <a:gd name="adj" fmla="val 41885"/>
            </a:avLst>
          </a:prstGeom>
          <a:solidFill>
            <a:srgbClr val="C8FF3D"/>
          </a:solidFill>
          <a:ln/>
        </p:spPr>
      </p:sp>
      <p:sp>
        <p:nvSpPr>
          <p:cNvPr id="58" name="Shape 51"/>
          <p:cNvSpPr/>
          <p:nvPr/>
        </p:nvSpPr>
        <p:spPr>
          <a:xfrm>
            <a:off x="15336044" y="7805896"/>
            <a:ext cx="227489" cy="227489"/>
          </a:xfrm>
          <a:prstGeom prst="roundRect">
            <a:avLst>
              <a:gd name="adj" fmla="val 41870"/>
            </a:avLst>
          </a:prstGeom>
          <a:solidFill>
            <a:srgbClr val="0B0B0C"/>
          </a:solidFill>
          <a:ln/>
        </p:spPr>
      </p:sp>
      <p:sp>
        <p:nvSpPr>
          <p:cNvPr id="59" name="Text 52"/>
          <p:cNvSpPr/>
          <p:nvPr/>
        </p:nvSpPr>
        <p:spPr>
          <a:xfrm>
            <a:off x="11695588" y="8380888"/>
            <a:ext cx="4164333" cy="221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KONTO</a:t>
            </a:r>
            <a:endParaRPr lang="en-US" sz="825" dirty="0"/>
          </a:p>
        </p:txBody>
      </p:sp>
      <p:sp>
        <p:nvSpPr>
          <p:cNvPr id="60" name="Shape 53"/>
          <p:cNvSpPr/>
          <p:nvPr/>
        </p:nvSpPr>
        <p:spPr>
          <a:xfrm>
            <a:off x="11657488" y="8640763"/>
            <a:ext cx="4117023" cy="1712119"/>
          </a:xfrm>
          <a:prstGeom prst="roundRect">
            <a:avLst>
              <a:gd name="adj" fmla="val 10014"/>
            </a:avLst>
          </a:prstGeom>
          <a:solidFill>
            <a:srgbClr val="161618"/>
          </a:solidFill>
          <a:ln w="5239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1663680" y="9210357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Text 55"/>
          <p:cNvSpPr/>
          <p:nvPr/>
        </p:nvSpPr>
        <p:spPr>
          <a:xfrm>
            <a:off x="11845607" y="8821738"/>
            <a:ext cx="3700452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Datenexport</a:t>
            </a:r>
            <a:endParaRPr lang="en-US" sz="10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8438" y="8846026"/>
            <a:ext cx="147796" cy="147796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11663680" y="9779000"/>
            <a:ext cx="410448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5" name="Text 57"/>
          <p:cNvSpPr/>
          <p:nvPr/>
        </p:nvSpPr>
        <p:spPr>
          <a:xfrm>
            <a:off x="11845607" y="9390380"/>
            <a:ext cx="3700452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Datenschutz</a:t>
            </a:r>
            <a:endParaRPr lang="en-US" sz="1050" dirty="0"/>
          </a:p>
        </p:txBody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38438" y="9414669"/>
            <a:ext cx="147796" cy="147796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11845607" y="9959022"/>
            <a:ext cx="3700452" cy="250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6B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Abmelden</a:t>
            </a:r>
            <a:endParaRPr lang="en-US" sz="1050" dirty="0"/>
          </a:p>
        </p:txBody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38438" y="9983312"/>
            <a:ext cx="147796" cy="147796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11710033" y="10626407"/>
            <a:ext cx="4011933" cy="25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6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TRACKIFY · v2.4.1 (build 482)</a:t>
            </a:r>
            <a:endParaRPr lang="en-US" sz="825" dirty="0"/>
          </a:p>
        </p:txBody>
      </p:sp>
      <p:sp>
        <p:nvSpPr>
          <p:cNvPr id="70" name="Shape 60"/>
          <p:cNvSpPr/>
          <p:nvPr/>
        </p:nvSpPr>
        <p:spPr>
          <a:xfrm>
            <a:off x="11430000" y="9479280"/>
            <a:ext cx="4571841" cy="997902"/>
          </a:xfrm>
          <a:prstGeom prst="rect">
            <a:avLst/>
          </a:prstGeom>
          <a:solidFill>
            <a:srgbClr val="0B0B0C"/>
          </a:solidFill>
          <a:ln/>
        </p:spPr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43690" y="9638506"/>
            <a:ext cx="250190" cy="250190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11708764" y="9934258"/>
            <a:ext cx="396399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</a:t>
            </a:r>
            <a:endParaRPr lang="en-US" sz="750" dirty="0"/>
          </a:p>
        </p:txBody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82696" y="9638506"/>
            <a:ext cx="250190" cy="250190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12586811" y="9934258"/>
            <a:ext cx="51816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</a:t>
            </a:r>
            <a:endParaRPr lang="en-US" sz="750" dirty="0"/>
          </a:p>
        </p:txBody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41705" y="9638506"/>
            <a:ext cx="250190" cy="250190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13586618" y="9934258"/>
            <a:ext cx="43640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Cardio</a:t>
            </a:r>
            <a:endParaRPr lang="en-US" sz="750" dirty="0"/>
          </a:p>
        </p:txBody>
      </p:sp>
      <p:pic>
        <p:nvPicPr>
          <p:cNvPr id="7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62613" y="9638506"/>
            <a:ext cx="250190" cy="250190"/>
          </a:xfrm>
          <a:prstGeom prst="rect">
            <a:avLst/>
          </a:prstGeom>
        </p:spPr>
      </p:pic>
      <p:sp>
        <p:nvSpPr>
          <p:cNvPr id="78" name="Text 64"/>
          <p:cNvSpPr/>
          <p:nvPr/>
        </p:nvSpPr>
        <p:spPr>
          <a:xfrm>
            <a:off x="14504670" y="9934258"/>
            <a:ext cx="44259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76767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Körper</a:t>
            </a:r>
            <a:endParaRPr lang="en-US" sz="750" dirty="0"/>
          </a:p>
        </p:txBody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450820" y="9638506"/>
            <a:ext cx="250190" cy="250190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15428913" y="9934258"/>
            <a:ext cx="370364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" kern="0" dirty="0">
                <a:solidFill>
                  <a:srgbClr val="F6F6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</a:t>
            </a:r>
            <a:endParaRPr lang="en-US" sz="750" dirty="0"/>
          </a:p>
        </p:txBody>
      </p:sp>
      <p:sp>
        <p:nvSpPr>
          <p:cNvPr id="81" name="Shape 66"/>
          <p:cNvSpPr/>
          <p:nvPr/>
        </p:nvSpPr>
        <p:spPr>
          <a:xfrm>
            <a:off x="12925425" y="10287000"/>
            <a:ext cx="1581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185160"/>
            <a:ext cx="762000" cy="762000"/>
          </a:xfrm>
          <a:prstGeom prst="roundRect">
            <a:avLst>
              <a:gd name="adj" fmla="val 27500"/>
            </a:avLst>
          </a:prstGeom>
          <a:solidFill>
            <a:srgbClr val="F6F6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33375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404360"/>
            <a:ext cx="1648206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0" b="1" spc="-600" kern="0" dirty="0">
                <a:solidFill>
                  <a:srgbClr val="F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Danke.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1143000" y="6461760"/>
            <a:ext cx="686752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B8B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Fragen, Variationen, andere Akzente — sag Bescheid.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43000" y="9346882"/>
            <a:ext cx="156210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TRACKIFY · 2026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847820" y="9346882"/>
            <a:ext cx="373380" cy="216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76767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2026-05-26T15:14:18Z</dcterms:created>
  <dcterms:modified xsi:type="dcterms:W3CDTF">2026-05-26T15:14:18Z</dcterms:modified>
</cp:coreProperties>
</file>